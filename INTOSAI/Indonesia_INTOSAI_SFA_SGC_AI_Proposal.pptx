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2E2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65392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Indonesia for INTOSAI Leadership | Sustainable Financing Accountability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75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75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B4A"/>
          </a:solidFill>
          <a:ln w="12700">
            <a:solidFill>
              <a:srgbClr val="143B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6720840" y="45720"/>
            <a:ext cx="5120640" cy="5120640"/>
          </a:xfrm>
          <a:prstGeom prst="arc">
            <a:avLst/>
          </a:prstGeom>
          <a:solidFill>
            <a:srgbClr val="143B4A">
              <a:alpha val="0"/>
            </a:srgbClr>
          </a:solidFill>
          <a:ln w="25400">
            <a:solidFill>
              <a:srgbClr val="346D74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7726680" y="621792"/>
            <a:ext cx="3886200" cy="3886200"/>
          </a:xfrm>
          <a:prstGeom prst="arc">
            <a:avLst/>
          </a:prstGeom>
          <a:solidFill>
            <a:srgbClr val="143B4A">
              <a:alpha val="0"/>
            </a:srgbClr>
          </a:solidFill>
          <a:ln w="19050">
            <a:solidFill>
              <a:srgbClr val="A6D7C9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94944"/>
            <a:ext cx="2514600" cy="292608"/>
          </a:xfrm>
          <a:prstGeom prst="roundRect">
            <a:avLst>
              <a:gd name="adj" fmla="val 18750"/>
            </a:avLst>
          </a:prstGeom>
          <a:solidFill>
            <a:srgbClr val="3B8C6E">
              <a:alpha val="95000"/>
            </a:srgbClr>
          </a:solidFill>
          <a:ln w="12700">
            <a:solidFill>
              <a:srgbClr val="3B8C6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763524"/>
            <a:ext cx="2295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PROPOSAL INTOSAI LEADERSHIP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6492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Sustainable Financing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Accountability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658368" y="276148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F1E7"/>
                </a:solidFill>
              </a:rPr>
              <a:t>Integrasi SGC dan AI-enabled Innovation untuk kepemimpinan Indonesia di INTOSAI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4187952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F5663"/>
          </a:solidFill>
          <a:ln w="12700">
            <a:solidFill>
              <a:srgbClr val="1F56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4187952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F5663"/>
          </a:solidFill>
          <a:ln w="12700">
            <a:solidFill>
              <a:srgbClr val="1F56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31152" y="4187952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F5663"/>
          </a:solidFill>
          <a:ln w="12700">
            <a:solidFill>
              <a:srgbClr val="1F56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370832"/>
            <a:ext cx="2468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SGC: Governance continuum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4370832"/>
            <a:ext cx="2468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AI: Intelligence infrastructure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59752" y="4370832"/>
            <a:ext cx="2468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Toolkit, guidance, legacy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61722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D6D1"/>
                </a:solidFill>
              </a:rPr>
              <a:t>Prepared as an AI-professor framing deck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B68"/>
          </a:solidFill>
          <a:ln w="12700">
            <a:solidFill>
              <a:srgbClr val="0E6B6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Tesis Utama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6A"/>
                </a:solidFill>
              </a:rPr>
              <a:t>Dua tema harus dibaca sebagai satu arsitektur akuntabilitas, bukan dua subtema terpisah.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652760" cy="1143000"/>
          </a:xfrm>
          <a:prstGeom prst="roundRect">
            <a:avLst>
              <a:gd name="adj" fmla="val 6400"/>
            </a:avLst>
          </a:prstGeom>
          <a:solidFill>
            <a:srgbClr val="143B4A"/>
          </a:solidFill>
          <a:ln w="12700">
            <a:solidFill>
              <a:srgbClr val="143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0020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Sustainable Financing Accountability adalah masalah utama; SGC adalah kerangka tata kelola; AI adalah infrastruktur kecerdasan.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EEF5F2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92608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DDF1E7"/>
          </a:solidFill>
          <a:ln w="12700">
            <a:solidFill>
              <a:srgbClr val="C3E5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92608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E9F1F4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0" y="3639312"/>
            <a:ext cx="640080" cy="0"/>
          </a:xfrm>
          <a:prstGeom prst="line">
            <a:avLst/>
          </a:prstGeom>
          <a:noFill/>
          <a:ln w="25400">
            <a:solidFill>
              <a:srgbClr val="C7952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80960" y="3639312"/>
            <a:ext cx="640080" cy="0"/>
          </a:xfrm>
          <a:prstGeom prst="line">
            <a:avLst/>
          </a:prstGeom>
          <a:noFill/>
          <a:ln w="25400">
            <a:solidFill>
              <a:srgbClr val="C7952D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05840" y="3127248"/>
            <a:ext cx="2606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24128" y="3456432"/>
            <a:ext cx="257860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36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the money, impact, and risk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3127248"/>
            <a:ext cx="2606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SGC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28032" y="3456432"/>
            <a:ext cx="257860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36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continuum beyond 2030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0" y="3127248"/>
            <a:ext cx="2606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6F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13648" y="3456432"/>
            <a:ext cx="257860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36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intelligence and shared knowledge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919472"/>
            <a:ext cx="104241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0E2933"/>
                </a:solidFill>
              </a:rPr>
              <a:t>Indonesia menawarkan paradigma audit pembiayaan berkelanjutan, bukan sekadar tema konferensi.</a:t>
            </a:r>
            <a:endParaRPr lang="en-US" sz="1400" dirty="0"/>
          </a:p>
          <a:p>
            <a:r>
              <a:rPr lang="en-US" sz="1400" dirty="0">
                <a:solidFill>
                  <a:srgbClr val="0E2933"/>
                </a:solidFill>
              </a:rPr>
              <a:t>INTOSAI diposisikan sebagai penjaga akuntabilitas global setelah Agenda 2030.</a:t>
            </a:r>
            <a:endParaRPr lang="en-US" sz="1400" dirty="0"/>
          </a:p>
          <a:p>
            <a:r>
              <a:rPr lang="en-US" sz="1400" dirty="0">
                <a:solidFill>
                  <a:srgbClr val="0E2933"/>
                </a:solidFill>
              </a:rPr>
              <a:t>AI memperluas kapasitas SAI dari audit manual menuju predictive, real-time, and shared audit intelligence.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75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B68"/>
          </a:solidFill>
          <a:ln w="12700">
            <a:solidFill>
              <a:srgbClr val="0E6B6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Definisi Dasar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6A"/>
                </a:solidFill>
              </a:rPr>
              <a:t>Istilah kunci yang perlu disamakan sebelum menyusun proposal.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2359152" cy="352044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9E7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1709928"/>
            <a:ext cx="1901952" cy="493776"/>
          </a:xfrm>
          <a:prstGeom prst="roundRect">
            <a:avLst>
              <a:gd name="adj" fmla="val 9259"/>
            </a:avLst>
          </a:prstGeom>
          <a:solidFill>
            <a:srgbClr val="143B4A"/>
          </a:solidFill>
          <a:ln w="12700">
            <a:solidFill>
              <a:srgbClr val="143B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19656"/>
            <a:ext cx="184708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INTOSAI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2487168"/>
            <a:ext cx="1810512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Organisasi global lembaga pemeriksa negara. Forum utama untuk standar, kolaborasi, dan agenda audit publik.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73552" y="1417320"/>
            <a:ext cx="2359152" cy="352044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9E7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709928"/>
            <a:ext cx="1901952" cy="493776"/>
          </a:xfrm>
          <a:prstGeom prst="roundRect">
            <a:avLst>
              <a:gd name="adj" fmla="val 9259"/>
            </a:avLst>
          </a:prstGeom>
          <a:solidFill>
            <a:srgbClr val="0E6B68"/>
          </a:solidFill>
          <a:ln w="12700">
            <a:solidFill>
              <a:srgbClr val="0E6B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1819656"/>
            <a:ext cx="184708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87168"/>
            <a:ext cx="1810512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Supreme Audit Institution: lembaga audit tertinggi negara. Contoh Indonesia: BPK.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88736" y="1417320"/>
            <a:ext cx="2359152" cy="352044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9E7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709928"/>
            <a:ext cx="1901952" cy="493776"/>
          </a:xfrm>
          <a:prstGeom prst="roundRect">
            <a:avLst>
              <a:gd name="adj" fmla="val 9259"/>
            </a:avLst>
          </a:prstGeom>
          <a:solidFill>
            <a:srgbClr val="3B8C6E"/>
          </a:solidFill>
          <a:ln w="12700">
            <a:solidFill>
              <a:srgbClr val="3B8C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819656"/>
            <a:ext cx="184708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63056" y="2487168"/>
            <a:ext cx="1810512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Sustainable Development Goals: agenda pembangunan berkelanjutan PBB sampai 2030.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1417320"/>
            <a:ext cx="2359152" cy="352044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9E7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1709928"/>
            <a:ext cx="1901952" cy="493776"/>
          </a:xfrm>
          <a:prstGeom prst="roundRect">
            <a:avLst>
              <a:gd name="adj" fmla="val 9259"/>
            </a:avLst>
          </a:prstGeom>
          <a:solidFill>
            <a:srgbClr val="2F6F9F"/>
          </a:solidFill>
          <a:ln w="12700">
            <a:solidFill>
              <a:srgbClr val="2F6F9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59952" y="1819656"/>
            <a:ext cx="184708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0" y="2487168"/>
            <a:ext cx="1810512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Sustainability Governance Continuum: akuntabilitas sustainability sebagai proses lintas waktu, bukan target yang berhenti di 2030.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24128" y="5440680"/>
            <a:ext cx="10149840" cy="530352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12700">
            <a:solidFill>
              <a:srgbClr val="F4D6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25296" y="5605272"/>
            <a:ext cx="9692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Catatan: yang benar adalah SDGs. SGD biasanya merujuk pada Singapore Dollar, bukan agenda pembangunan.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75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B68"/>
          </a:solidFill>
          <a:ln w="12700">
            <a:solidFill>
              <a:srgbClr val="0E6B6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Sustainable Financing Accountability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6A"/>
                </a:solidFill>
              </a:rPr>
              <a:t>Akuntabilitas bukan hanya pada kepatuhan anggaran, tetapi pada dampak dan risiko jangka panjang.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3200400" cy="4526280"/>
          </a:xfrm>
          <a:prstGeom prst="roundRect">
            <a:avLst>
              <a:gd name="adj" fmla="val 2286"/>
            </a:avLst>
          </a:prstGeom>
          <a:solidFill>
            <a:srgbClr val="143B4A"/>
          </a:solidFill>
          <a:ln w="12700">
            <a:solidFill>
              <a:srgbClr val="143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64208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Objek audit pembiayaan berkelanjutan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33272" y="2514600"/>
            <a:ext cx="251460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4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Climate finance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4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budget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4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transition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4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debt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4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PPP &amp; blended finance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4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Subsidies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4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protection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EEF5F2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50876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EEF5F2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23960" y="150876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EEF5F2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739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952D"/>
                </a:solidFill>
              </a:rPr>
              <a:t>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26280" y="2286000"/>
            <a:ext cx="182880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3656A"/>
                </a:solidFill>
              </a:rPr>
              <a:t>Follow the money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20840" y="17739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C6E"/>
                </a:solidFill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20840" y="2286000"/>
            <a:ext cx="182880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3656A"/>
                </a:solidFill>
              </a:rPr>
              <a:t>Follow the impact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915400" y="17739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94A48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915400" y="2286000"/>
            <a:ext cx="182880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3656A"/>
                </a:solidFill>
              </a:rPr>
              <a:t>Follow the risk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3429000"/>
            <a:ext cx="63550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0E2933"/>
                </a:solidFill>
              </a:rPr>
              <a:t>Apakah pembiayaan benar-benar mendukung sustainability, bukan sekadar label hijau?</a:t>
            </a:r>
            <a:endParaRPr lang="en-US" sz="1400" dirty="0"/>
          </a:p>
          <a:p>
            <a:r>
              <a:rPr lang="en-US" sz="1400" dirty="0">
                <a:solidFill>
                  <a:srgbClr val="0E2933"/>
                </a:solidFill>
              </a:rPr>
              <a:t>Apakah hasilnya terukur, inklusif, dan dapat dibuktikan?</a:t>
            </a:r>
            <a:endParaRPr lang="en-US" sz="1400" dirty="0"/>
          </a:p>
          <a:p>
            <a:r>
              <a:rPr lang="en-US" sz="1400" dirty="0">
                <a:solidFill>
                  <a:srgbClr val="0E2933"/>
                </a:solidFill>
              </a:rPr>
              <a:t>Apakah pembiayaan hari ini menciptakan risiko fiskal, sosial, lingkungan, atau digital di masa depan?</a:t>
            </a:r>
            <a:endParaRPr lang="en-US" sz="1400" dirty="0"/>
          </a:p>
          <a:p>
            <a:r>
              <a:rPr lang="en-US" sz="1400" dirty="0">
                <a:solidFill>
                  <a:srgbClr val="0E2933"/>
                </a:solidFill>
              </a:rPr>
              <a:t>Apakah ada gap antara komitmen, alokasi, implementasi, output, outcome, dan impact?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75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B68"/>
          </a:solidFill>
          <a:ln w="12700">
            <a:solidFill>
              <a:srgbClr val="0E6B6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Integrasi Dua Tema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6A"/>
                </a:solidFill>
              </a:rPr>
              <a:t>SGC menjawab apa yang harus diaudit; AI menjawab bagaimana audit menjadi cerdas dan skalabel.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4754880" cy="4251960"/>
          </a:xfrm>
          <a:prstGeom prst="roundRect">
            <a:avLst>
              <a:gd name="adj" fmla="val 1720"/>
            </a:avLst>
          </a:prstGeom>
          <a:solidFill>
            <a:srgbClr val="F0F8F3"/>
          </a:solidFill>
          <a:ln w="12700">
            <a:solidFill>
              <a:srgbClr val="CCE2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417320"/>
            <a:ext cx="4754880" cy="4251960"/>
          </a:xfrm>
          <a:prstGeom prst="roundRect">
            <a:avLst>
              <a:gd name="adj" fmla="val 1720"/>
            </a:avLst>
          </a:prstGeom>
          <a:solidFill>
            <a:srgbClr val="EEF5FA"/>
          </a:solidFill>
          <a:ln w="12700">
            <a:solidFill>
              <a:srgbClr val="C9DD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37360"/>
            <a:ext cx="42062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C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4114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Sustainability Governance Continuum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07008" y="2971800"/>
            <a:ext cx="397764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0E2933"/>
                </a:solidFill>
              </a:rPr>
              <a:t>Membawa INTOSAI beyond UN 2030 Agenda</a:t>
            </a:r>
            <a:endParaRPr lang="en-US" sz="1400" dirty="0"/>
          </a:p>
          <a:p>
            <a:r>
              <a:rPr lang="en-US" sz="1400" dirty="0">
                <a:solidFill>
                  <a:srgbClr val="0E2933"/>
                </a:solidFill>
              </a:rPr>
              <a:t>Menghubungkan finance, governance, risk, and impact</a:t>
            </a:r>
            <a:endParaRPr lang="en-US" sz="1400" dirty="0"/>
          </a:p>
          <a:p>
            <a:r>
              <a:rPr lang="en-US" sz="1400" dirty="0">
                <a:solidFill>
                  <a:srgbClr val="0E2933"/>
                </a:solidFill>
              </a:rPr>
              <a:t>Menjadikan sustainability sebagai continuous accountability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1737360"/>
            <a:ext cx="42062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03720" y="2103120"/>
            <a:ext cx="4114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AI-Enabled Innovation and Shared Knowledge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967728" y="2971800"/>
            <a:ext cx="397764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0E2933"/>
                </a:solidFill>
              </a:rPr>
              <a:t>AI sebagai intelligence infrastructure untuk audit</a:t>
            </a:r>
            <a:endParaRPr lang="en-US" sz="1400" dirty="0"/>
          </a:p>
          <a:p>
            <a:r>
              <a:rPr lang="en-US" sz="1400" dirty="0">
                <a:solidFill>
                  <a:srgbClr val="0E2933"/>
                </a:solidFill>
              </a:rPr>
              <a:t>Knowledge hub lintas SAI dan automated learning</a:t>
            </a:r>
            <a:endParaRPr lang="en-US" sz="1400" dirty="0"/>
          </a:p>
          <a:p>
            <a:r>
              <a:rPr lang="en-US" sz="1400" dirty="0">
                <a:solidFill>
                  <a:srgbClr val="0E2933"/>
                </a:solidFill>
              </a:rPr>
              <a:t>Audit data, predictive analytics, NLP, and real-time monitoring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50992" y="3529584"/>
            <a:ext cx="822960" cy="0"/>
          </a:xfrm>
          <a:prstGeom prst="line">
            <a:avLst/>
          </a:prstGeom>
          <a:noFill/>
          <a:ln w="25400">
            <a:solidFill>
              <a:srgbClr val="C7952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023360" y="5806440"/>
            <a:ext cx="4160520" cy="384048"/>
          </a:xfrm>
          <a:prstGeom prst="roundRect">
            <a:avLst>
              <a:gd name="adj" fmla="val 19048"/>
            </a:avLst>
          </a:prstGeom>
          <a:solidFill>
            <a:srgbClr val="143B4A"/>
          </a:solidFill>
          <a:ln w="12700">
            <a:solidFill>
              <a:srgbClr val="143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87952" y="5934456"/>
            <a:ext cx="384048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paradigm: AI-powered Sustainable Financing Accountability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75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B68"/>
          </a:solidFill>
          <a:ln w="12700">
            <a:solidFill>
              <a:srgbClr val="0E6B6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Model: SGC-AI Accountability Continuum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6A"/>
                </a:solidFill>
              </a:rPr>
              <a:t>Dari komitmen pembiayaan sampai ketahanan pasca-2030.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066544"/>
            <a:ext cx="594360" cy="594360"/>
          </a:xfrm>
          <a:prstGeom prst="ellipse">
            <a:avLst/>
          </a:prstGeom>
          <a:solidFill>
            <a:srgbClr val="143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21992"/>
            <a:ext cx="59436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852928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" y="3246120"/>
            <a:ext cx="130759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36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Komitmen pembiayaan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21992" y="3035808"/>
            <a:ext cx="219456" cy="0"/>
          </a:xfrm>
          <a:prstGeom prst="line">
            <a:avLst/>
          </a:prstGeom>
          <a:noFill/>
          <a:ln w="25400">
            <a:solidFill>
              <a:srgbClr val="C7952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87168" y="182880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EEF5F2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0088" y="2066544"/>
            <a:ext cx="594360" cy="594360"/>
          </a:xfrm>
          <a:prstGeom prst="ellipse">
            <a:avLst/>
          </a:prstGeom>
          <a:solidFill>
            <a:srgbClr val="0E6B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0088" y="2221992"/>
            <a:ext cx="59436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852928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33472" y="3246120"/>
            <a:ext cx="130759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36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Alokasi dan governance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0" y="3035808"/>
            <a:ext cx="219456" cy="0"/>
          </a:xfrm>
          <a:prstGeom prst="line">
            <a:avLst/>
          </a:prstGeom>
          <a:noFill/>
          <a:ln w="25400">
            <a:solidFill>
              <a:srgbClr val="C7952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79976" y="182880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82896" y="2066544"/>
            <a:ext cx="594360" cy="594360"/>
          </a:xfrm>
          <a:prstGeom prst="ellipse">
            <a:avLst/>
          </a:prstGeom>
          <a:solidFill>
            <a:srgbClr val="3B8C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2221992"/>
            <a:ext cx="59436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98848" y="2852928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3246120"/>
            <a:ext cx="130759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36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Implementasi dan integritas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07608" y="3035808"/>
            <a:ext cx="219456" cy="0"/>
          </a:xfrm>
          <a:prstGeom prst="line">
            <a:avLst/>
          </a:prstGeom>
          <a:noFill/>
          <a:ln w="25400">
            <a:solidFill>
              <a:srgbClr val="C7952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72784" y="182880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EEF5F2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75704" y="2066544"/>
            <a:ext cx="594360" cy="594360"/>
          </a:xfrm>
          <a:prstGeom prst="ellipse">
            <a:avLst/>
          </a:prstGeom>
          <a:solidFill>
            <a:srgbClr val="C795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75704" y="2221992"/>
            <a:ext cx="59436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91656" y="2852928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19088" y="3246120"/>
            <a:ext cx="130759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36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dan dampak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00416" y="3035808"/>
            <a:ext cx="219456" cy="0"/>
          </a:xfrm>
          <a:prstGeom prst="line">
            <a:avLst/>
          </a:prstGeom>
          <a:noFill/>
          <a:ln w="25400">
            <a:solidFill>
              <a:srgbClr val="C7952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165592" y="182880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68512" y="2066544"/>
            <a:ext cx="594360" cy="594360"/>
          </a:xfrm>
          <a:prstGeom prst="ellipse">
            <a:avLst/>
          </a:prstGeom>
          <a:solidFill>
            <a:srgbClr val="D46F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68512" y="2221992"/>
            <a:ext cx="59436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84464" y="2852928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11896" y="3246120"/>
            <a:ext cx="130759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36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Kesiapan pasca-2030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793224" y="3035808"/>
            <a:ext cx="219456" cy="0"/>
          </a:xfrm>
          <a:prstGeom prst="line">
            <a:avLst/>
          </a:prstGeom>
          <a:noFill/>
          <a:ln w="25400">
            <a:solidFill>
              <a:srgbClr val="C7952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058400" y="182880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EEF5F2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61320" y="2066544"/>
            <a:ext cx="594360" cy="594360"/>
          </a:xfrm>
          <a:prstGeom prst="ellipse">
            <a:avLst/>
          </a:prstGeom>
          <a:solidFill>
            <a:srgbClr val="2F6F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61320" y="2221992"/>
            <a:ext cx="59436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177272" y="2852928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204704" y="3246120"/>
            <a:ext cx="130759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36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knowledge antar SAI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097280" y="4846320"/>
            <a:ext cx="9966960" cy="694944"/>
          </a:xfrm>
          <a:prstGeom prst="roundRect">
            <a:avLst>
              <a:gd name="adj" fmla="val 10526"/>
            </a:avLst>
          </a:prstGeom>
          <a:solidFill>
            <a:srgbClr val="143B4A"/>
          </a:solidFill>
          <a:ln w="12700">
            <a:solidFill>
              <a:srgbClr val="143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98448" y="5102352"/>
            <a:ext cx="9555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layer: data integration, NLP, anomaly detection, predictive modeling, dashboards, translation, knowledge retrieval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14400" y="5797296"/>
            <a:ext cx="10378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Profesor AI framing: AI bukan “plugin” audit, melainkan lapisan epistemik yang mengubah data menjadi bukti, insight, dan pembelajaran kolektif.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75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B68"/>
          </a:solidFill>
          <a:ln w="12700">
            <a:solidFill>
              <a:srgbClr val="0E6B6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Arsitektur AI untuk Akuntabilitas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6A"/>
                </a:solidFill>
              </a:rPr>
              <a:t>AI mengubah audit dari reaktif menjadi prediktif, real-time, dan lintas negara.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901952"/>
            <a:ext cx="204825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Layer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96696" y="2542032"/>
            <a:ext cx="1938528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Anggaran, kontrak, laporan, satelit, indikator SDGs, data emisi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3227832" y="3182112"/>
            <a:ext cx="292608" cy="0"/>
          </a:xfrm>
          <a:prstGeom prst="line">
            <a:avLst/>
          </a:prstGeom>
          <a:noFill/>
          <a:ln w="25400">
            <a:solidFill>
              <a:srgbClr val="C7952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6160" y="160020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EEF5F2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901952"/>
            <a:ext cx="204825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Layer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85616" y="2542032"/>
            <a:ext cx="1938528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NLP, anomaly detection, risk scoring, forecasting, computer vision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016752" y="3182112"/>
            <a:ext cx="292608" cy="0"/>
          </a:xfrm>
          <a:prstGeom prst="line">
            <a:avLst/>
          </a:prstGeom>
          <a:noFill/>
          <a:ln w="25400">
            <a:solidFill>
              <a:srgbClr val="C7952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55080" y="160020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901952"/>
            <a:ext cx="204825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C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 Layer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74536" y="2542032"/>
            <a:ext cx="1938528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flags, scenario, impact estimation, audit prioritization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8805672" y="3182112"/>
            <a:ext cx="292608" cy="0"/>
          </a:xfrm>
          <a:prstGeom prst="line">
            <a:avLst/>
          </a:prstGeom>
          <a:noFill/>
          <a:ln w="25400">
            <a:solidFill>
              <a:srgbClr val="C7952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0" y="160020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EEF5F2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1901952"/>
            <a:ext cx="204825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Layer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63456" y="2542032"/>
            <a:ext cx="1938528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studies, standards, lessons learned, multilingual search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1097280" y="5376672"/>
            <a:ext cx="10012680" cy="475488"/>
          </a:xfrm>
          <a:prstGeom prst="roundRect">
            <a:avLst>
              <a:gd name="adj" fmla="val 15385"/>
            </a:avLst>
          </a:prstGeom>
          <a:solidFill>
            <a:srgbClr val="FFF7E6"/>
          </a:solidFill>
          <a:ln w="12700">
            <a:solidFill>
              <a:srgbClr val="F4D6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5559552"/>
            <a:ext cx="958291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claim: AI enables population-level audit, continuous monitoring, cross-country benchmarking, and shared institutional memory.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75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B68"/>
          </a:solidFill>
          <a:ln w="12700">
            <a:solidFill>
              <a:srgbClr val="0E6B6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Etika dan Tata Kelola AI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6A"/>
                </a:solidFill>
              </a:rPr>
              <a:t>Kepemimpinan Indonesia harus menekankan responsible AI, bukan sekadar adopsi teknologi.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53619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810512"/>
            <a:ext cx="2788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24128" y="2249424"/>
            <a:ext cx="2651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 harus dapat menjelaskan basis rekomendasi AI.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498848" y="153619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1810512"/>
            <a:ext cx="2788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C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Fairness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91456" y="2249424"/>
            <a:ext cx="2651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harus diuji terhadap bias dan diskriminasi.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266176" y="153619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810512"/>
            <a:ext cx="2788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58784" y="2249424"/>
            <a:ext cx="2651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sensitif wajib dilindungi melalui governance yang kuat.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731520" y="350215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EF5F2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776472"/>
            <a:ext cx="2788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79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Oversight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24128" y="4215384"/>
            <a:ext cx="2651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Keputusan audit tetap berada pada auditor, bukan algoritma.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4498848" y="350215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EF5F2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3776472"/>
            <a:ext cx="2788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6F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Assurance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91456" y="4215384"/>
            <a:ext cx="2651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Model, data, dan output AI harus dapat diuji ulang.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8266176" y="350215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EF5F2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5632" y="3776472"/>
            <a:ext cx="2788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58784" y="4215384"/>
            <a:ext cx="2651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Jejak keputusan AI harus terdokumentasi dan auditable.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1417320" y="5623560"/>
            <a:ext cx="9326880" cy="411480"/>
          </a:xfrm>
          <a:prstGeom prst="roundRect">
            <a:avLst>
              <a:gd name="adj" fmla="val 17778"/>
            </a:avLst>
          </a:prstGeom>
          <a:solidFill>
            <a:srgbClr val="143B4A"/>
          </a:solidFill>
          <a:ln w="12700">
            <a:solidFill>
              <a:srgbClr val="143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27632" y="5779008"/>
            <a:ext cx="891540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Principle: AI augments the professional judgment of auditors; it does not replace audit responsibility.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75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B68"/>
          </a:solidFill>
          <a:ln w="12700">
            <a:solidFill>
              <a:srgbClr val="0E6B6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Saat Chairmanship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6A"/>
                </a:solidFill>
              </a:rPr>
              <a:t>Dari gagasan menjadi warisan konkret Indonesia untuk INTOSAI.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0F8F3"/>
          </a:solidFill>
          <a:ln w="12700">
            <a:solidFill>
              <a:srgbClr val="CFE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07408" y="137160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EEF5FA"/>
          </a:solidFill>
          <a:ln w="12700">
            <a:solidFill>
              <a:srgbClr val="C9DD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19872" y="137160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7E6"/>
          </a:solidFill>
          <a:ln w="12700">
            <a:solidFill>
              <a:srgbClr val="F4D6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55648"/>
            <a:ext cx="2834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Normative Legacy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87552" y="2423160"/>
            <a:ext cx="2788920" cy="1783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00" dirty="0">
                <a:solidFill>
                  <a:srgbClr val="0E2933"/>
                </a:solidFill>
              </a:rPr>
              <a:t>Jakarta Declaration on Sustainable Financing Accountability</a:t>
            </a:r>
            <a:endParaRPr lang="en-US" sz="1300" dirty="0"/>
          </a:p>
          <a:p>
            <a:r>
              <a:rPr lang="en-US" sz="1300" dirty="0">
                <a:solidFill>
                  <a:srgbClr val="0E2933"/>
                </a:solidFill>
              </a:rPr>
              <a:t>INTOSAI Guidance on SGC</a:t>
            </a:r>
            <a:endParaRPr lang="en-US" sz="1300" dirty="0"/>
          </a:p>
          <a:p>
            <a:r>
              <a:rPr lang="en-US" sz="1300" dirty="0">
                <a:solidFill>
                  <a:srgbClr val="0E2933"/>
                </a:solidFill>
              </a:rPr>
              <a:t>Post-2030 Sustainability Audit Principles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81728" y="1755648"/>
            <a:ext cx="2834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Technological Legacy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09160" y="2423160"/>
            <a:ext cx="278892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00" dirty="0">
                <a:solidFill>
                  <a:srgbClr val="0E2933"/>
                </a:solidFill>
              </a:rPr>
              <a:t>INTOSAI AI Audit Toolkit</a:t>
            </a:r>
            <a:endParaRPr lang="en-US" sz="1300" dirty="0"/>
          </a:p>
          <a:p>
            <a:r>
              <a:rPr lang="en-US" sz="1300" dirty="0">
                <a:solidFill>
                  <a:srgbClr val="0E2933"/>
                </a:solidFill>
              </a:rPr>
              <a:t>SGC Dashboard</a:t>
            </a:r>
            <a:endParaRPr lang="en-US" sz="1300" dirty="0"/>
          </a:p>
          <a:p>
            <a:r>
              <a:rPr lang="en-US" sz="1300" dirty="0">
                <a:solidFill>
                  <a:srgbClr val="0E2933"/>
                </a:solidFill>
              </a:rPr>
              <a:t>AI-enabled Knowledge Hub</a:t>
            </a:r>
            <a:endParaRPr lang="en-US" sz="1300" dirty="0"/>
          </a:p>
          <a:p>
            <a:r>
              <a:rPr lang="en-US" sz="1300" dirty="0">
                <a:solidFill>
                  <a:srgbClr val="0E2933"/>
                </a:solidFill>
              </a:rPr>
              <a:t>Audit Data Commons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94192" y="1755648"/>
            <a:ext cx="2834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Legacy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12480" y="2423160"/>
            <a:ext cx="278892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00" dirty="0">
                <a:solidFill>
                  <a:srgbClr val="0E2933"/>
                </a:solidFill>
              </a:rPr>
              <a:t>AI audit certification</a:t>
            </a:r>
            <a:endParaRPr lang="en-US" sz="1300" dirty="0"/>
          </a:p>
          <a:p>
            <a:r>
              <a:rPr lang="en-US" sz="1300" dirty="0">
                <a:solidFill>
                  <a:srgbClr val="0E2933"/>
                </a:solidFill>
              </a:rPr>
              <a:t>Community of practice</a:t>
            </a:r>
            <a:endParaRPr lang="en-US" sz="1300" dirty="0"/>
          </a:p>
          <a:p>
            <a:r>
              <a:rPr lang="en-US" sz="1300" dirty="0">
                <a:solidFill>
                  <a:srgbClr val="0E2933"/>
                </a:solidFill>
              </a:rPr>
              <a:t>Regional Centre of Excellence in Indonesia</a:t>
            </a:r>
            <a:endParaRPr lang="en-US" sz="1300" dirty="0"/>
          </a:p>
          <a:p>
            <a:r>
              <a:rPr lang="en-US" sz="1300" dirty="0">
                <a:solidFill>
                  <a:srgbClr val="0E2933"/>
                </a:solidFill>
              </a:rPr>
              <a:t>Joint audit learning network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5989320"/>
            <a:ext cx="10241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Pesan strategis: Indonesia tidak hanya menjadi tuan rumah, tetapi menjadi arsitek standar, teknologi, dan pembelajaran INTOSAI.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75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B68"/>
          </a:solidFill>
          <a:ln w="12700">
            <a:solidFill>
              <a:srgbClr val="0E6B6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Implementasi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6A"/>
                </a:solidFill>
              </a:rPr>
              <a:t>Kerangka praktis untuk mengubah proposal menjadi agenda kepemimpinan.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39696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2026-2027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&amp; coalition building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9576" y="3447288"/>
            <a:ext cx="2606040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Membangun working group, konsep SGC, peta data, dan use case AI.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87952" y="3493008"/>
            <a:ext cx="338328" cy="0"/>
          </a:xfrm>
          <a:prstGeom prst="line">
            <a:avLst/>
          </a:prstGeom>
          <a:noFill/>
          <a:ln w="25400">
            <a:solidFill>
              <a:srgbClr val="C7952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17720" y="18288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DDF1E7"/>
          </a:solidFill>
          <a:ln w="19050">
            <a:solidFill>
              <a:srgbClr val="B7DF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39696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C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at INCOSAI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28616" y="3447288"/>
            <a:ext cx="2606040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Jakarta Declaration, guidance, toolkit beta, dan dashboard prototype.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36992" y="3493008"/>
            <a:ext cx="338328" cy="0"/>
          </a:xfrm>
          <a:prstGeom prst="line">
            <a:avLst/>
          </a:prstGeom>
          <a:noFill/>
          <a:ln w="25400">
            <a:solidFill>
              <a:srgbClr val="C7952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66760" y="18288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6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2139696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2029-2031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41080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&amp; institutionalization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77656" y="3447288"/>
            <a:ext cx="2606040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Standar, training, peer learning, dan integrasi ke siklus audit SAI.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325880" y="5650992"/>
            <a:ext cx="9509760" cy="438912"/>
          </a:xfrm>
          <a:prstGeom prst="roundRect">
            <a:avLst>
              <a:gd name="adj" fmla="val 16667"/>
            </a:avLst>
          </a:prstGeom>
          <a:solidFill>
            <a:srgbClr val="143B4A"/>
          </a:solidFill>
          <a:ln w="12700">
            <a:solidFill>
              <a:srgbClr val="143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5815584"/>
            <a:ext cx="914400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metric: INTOSAI adopts a repeatable audit paradigm for sustainable finance beyond 2030, powered by responsible AI.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75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B68"/>
          </a:solidFill>
          <a:ln w="12700">
            <a:solidFill>
              <a:srgbClr val="0E6B6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Positioning Indonesia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56A"/>
                </a:solidFill>
              </a:rPr>
              <a:t>Kepemimpinan berbasis gagasan, teknologi, dan akuntabilitas global.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10332720" cy="2788920"/>
          </a:xfrm>
          <a:prstGeom prst="roundRect">
            <a:avLst>
              <a:gd name="adj" fmla="val 2623"/>
            </a:avLst>
          </a:prstGeom>
          <a:solidFill>
            <a:srgbClr val="143B4A"/>
          </a:solidFill>
          <a:ln w="12700">
            <a:solidFill>
              <a:srgbClr val="143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02996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Indonesia offers a post-2030 accountability architecture for INTOSAI.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00200" y="27889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DDF1E7"/>
                </a:solidFill>
              </a:rPr>
              <a:t>Combining Sustainable Financing Accountability, the Sustainability Governance Continuum, and AI-enabled shared knowledge.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3000" y="4754880"/>
            <a:ext cx="9875520" cy="603504"/>
          </a:xfrm>
          <a:prstGeom prst="roundRect">
            <a:avLst>
              <a:gd name="adj" fmla="val 12121"/>
            </a:avLst>
          </a:prstGeom>
          <a:solidFill>
            <a:srgbClr val="FFF7E6"/>
          </a:solidFill>
          <a:ln w="12700">
            <a:solidFill>
              <a:srgbClr val="F4D6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983480"/>
            <a:ext cx="9400032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Inti pesan: audit masa depan harus mengikuti uang, dampak, risiko, dan pengetahuan - secara etis, berbasis bukti, dan berbantuan AI.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5989320"/>
            <a:ext cx="6309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by AI-professor framing for Indonesia INTOSAI leadership proposal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75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Indonesia INTOSAI Leadership: SFA, SGC, and AI-enabled Innovation</dc:title>
  <dc:subject>Sustainable Financing Accountability, SGC, and AI-enabled knowledge for INTOSAI leadership</dc:subject>
  <dc:creator>OpenAI</dc:creator>
  <cp:lastModifiedBy>OpenAI</cp:lastModifiedBy>
  <cp:revision>1</cp:revision>
  <dcterms:created xsi:type="dcterms:W3CDTF">2026-06-03T13:17:55Z</dcterms:created>
  <dcterms:modified xsi:type="dcterms:W3CDTF">2026-06-03T13:17:55Z</dcterms:modified>
</cp:coreProperties>
</file>