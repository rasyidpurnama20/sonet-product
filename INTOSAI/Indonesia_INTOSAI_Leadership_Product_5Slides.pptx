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40680"/>
            <a:ext cx="12191695" cy="36576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07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0A93B"/>
                </a:solidFill>
                <a:latin typeface="Calibri"/>
              </a:rPr>
              <a:t>PROPOSAL KEPEMIMPINAN INDONESIA DI INTOSAI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1060704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Sustainable Financing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Accountability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69494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8E4EE"/>
                </a:solidFill>
                <a:latin typeface="Calibri"/>
              </a:rPr>
              <a:t>Satu arsitektur akuntabilitas untuk dua tema INCOSAI 2028: </a:t>
            </a:r>
            <a:r>
              <a:rPr sz="1500" b="1" i="0">
                <a:solidFill>
                  <a:srgbClr val="E0A93B"/>
                </a:solidFill>
                <a:latin typeface="Calibri"/>
              </a:rPr>
              <a:t>SGC</a:t>
            </a:r>
            <a:r>
              <a:rPr sz="1500" b="0" i="0">
                <a:solidFill>
                  <a:srgbClr val="D8E4EE"/>
                </a:solidFill>
                <a:latin typeface="Calibri"/>
              </a:rPr>
              <a:t> sebagai kerangka tata kelola, </a:t>
            </a:r>
            <a:r>
              <a:rPr sz="1500" b="1" i="0">
                <a:solidFill>
                  <a:srgbClr val="E0A93B"/>
                </a:solidFill>
                <a:latin typeface="Calibri"/>
              </a:rPr>
              <a:t>AI</a:t>
            </a:r>
            <a:r>
              <a:rPr sz="1500" b="0" i="0">
                <a:solidFill>
                  <a:srgbClr val="D8E4EE"/>
                </a:solidFill>
                <a:latin typeface="Calibri"/>
              </a:rPr>
              <a:t> sebagai infrastruktur kecerdasan.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434840"/>
            <a:ext cx="3291840" cy="868680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1  SGC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434840"/>
            <a:ext cx="3291840" cy="868680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4434840"/>
            <a:ext cx="329184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2 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434840"/>
            <a:ext cx="3703320" cy="868680"/>
          </a:xfrm>
          <a:prstGeom prst="roundRect">
            <a:avLst>
              <a:gd name="adj" fmla="val 50000"/>
            </a:avLst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4434840"/>
            <a:ext cx="370332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72A40"/>
                </a:solidFill>
                <a:latin typeface="Calibri"/>
              </a:rPr>
              <a:t>3 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329184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FC9BC"/>
                </a:solidFill>
                <a:latin typeface="Calibri"/>
              </a:rPr>
              <a:t>APA yang diaudit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160520"/>
            <a:ext cx="329184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9C6E6"/>
                </a:solidFill>
                <a:latin typeface="Calibri"/>
              </a:rPr>
              <a:t>BAGAIMANA audit jadi cerdas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160520"/>
            <a:ext cx="370332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A93B"/>
                </a:solidFill>
                <a:latin typeface="Calibri"/>
              </a:rPr>
              <a:t>Toolkit • guidance • legacy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0A93B"/>
                </a:solidFill>
                <a:latin typeface="Calibri"/>
              </a:rPr>
              <a:t>AI-professor framing deck</a:t>
            </a:r>
            <a:r>
              <a:rPr sz="1050" b="0" i="0">
                <a:solidFill>
                  <a:srgbClr val="C2D2DE"/>
                </a:solidFill>
                <a:latin typeface="Calibri"/>
              </a:rPr>
              <a:t>   —  audit masa depan mengikuti uang, dampak, risiko, dan pengetahuan: etis, berbasis bukti, berbantuan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27432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3D5C"/>
                </a:solidFill>
                <a:latin typeface="Calibri"/>
              </a:rPr>
              <a:t>TESIS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A38"/>
                </a:solidFill>
                <a:latin typeface="Calibri"/>
              </a:rPr>
              <a:t>Dua Tema, Satu Arsitektur Akuntabilitas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777240" cy="41148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E7E"/>
                </a:solidFill>
                <a:latin typeface="Calibri"/>
              </a:rPr>
              <a:t>Dua tema dibaca sebagai </a:t>
            </a:r>
            <a:r>
              <a:rPr sz="1250" b="1" i="0">
                <a:solidFill>
                  <a:srgbClr val="0B3D5C"/>
                </a:solidFill>
                <a:latin typeface="Calibri"/>
              </a:rPr>
              <a:t>satu sistem</a:t>
            </a:r>
            <a:r>
              <a:rPr sz="1250" b="0" i="0">
                <a:solidFill>
                  <a:srgbClr val="5C6E7E"/>
                </a:solidFill>
                <a:latin typeface="Calibri"/>
              </a:rPr>
              <a:t>, bukan dua subtema terpisah — SGC menentukan </a:t>
            </a:r>
            <a:r>
              <a:rPr sz="1250" b="1" i="0">
                <a:solidFill>
                  <a:srgbClr val="1F8A70"/>
                </a:solidFill>
                <a:latin typeface="Calibri"/>
              </a:rPr>
              <a:t>apa</a:t>
            </a:r>
            <a:r>
              <a:rPr sz="1250" b="0" i="0">
                <a:solidFill>
                  <a:srgbClr val="5C6E7E"/>
                </a:solidFill>
                <a:latin typeface="Calibri"/>
              </a:rPr>
              <a:t>, AI menentukan </a:t>
            </a:r>
            <a:r>
              <a:rPr sz="1250" b="1" i="0">
                <a:solidFill>
                  <a:srgbClr val="2E6FB7"/>
                </a:solidFill>
                <a:latin typeface="Calibri"/>
              </a:rPr>
              <a:t>bagaimana</a:t>
            </a:r>
            <a:r>
              <a:rPr sz="1250" b="0" i="0">
                <a:solidFill>
                  <a:srgbClr val="5C6E7E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25780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257800" cy="777240"/>
          </a:xfrm>
          <a:prstGeom prst="roundRect">
            <a:avLst>
              <a:gd name="adj" fmla="val 5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5257800" cy="3657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92807"/>
            <a:ext cx="4709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FE8DD"/>
                </a:solidFill>
                <a:latin typeface="Calibri"/>
              </a:rPr>
              <a:t>THEME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The Sustainability Governance Continuum (SGC)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97480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38"/>
                </a:solidFill>
                <a:latin typeface="Calibri"/>
              </a:rPr>
              <a:t>Menjawab </a:t>
            </a:r>
            <a:r>
              <a:rPr sz="1200" b="1" i="0">
                <a:solidFill>
                  <a:srgbClr val="1F8A70"/>
                </a:solidFill>
                <a:latin typeface="Calibri"/>
              </a:rPr>
              <a:t>APA yang harus diaudit.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3255264"/>
            <a:ext cx="100584" cy="100584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163824"/>
            <a:ext cx="4480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A38"/>
                </a:solidFill>
                <a:latin typeface="Calibri"/>
              </a:rPr>
              <a:t>Membawa INTOSAI beyond UN 2030 Agenda — sustainability sebagai akuntabilitas berkelanjutan.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" y="3822191"/>
            <a:ext cx="100584" cy="100584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730752"/>
            <a:ext cx="4480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A38"/>
                </a:solidFill>
                <a:latin typeface="Calibri"/>
              </a:rPr>
              <a:t>Menghubungkan finance → governance → risk → impact dalam satu rangkaian.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" y="4389120"/>
            <a:ext cx="100584" cy="100584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297680"/>
            <a:ext cx="4480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A38"/>
                </a:solidFill>
                <a:latin typeface="Calibri"/>
              </a:rPr>
              <a:t>Fokus audit: climate finance, green budget, energy transition, public debt, PPP/blended finance.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783080"/>
            <a:ext cx="525780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35624" y="1783080"/>
            <a:ext cx="5257800" cy="777240"/>
          </a:xfrm>
          <a:prstGeom prst="roundRect">
            <a:avLst>
              <a:gd name="adj" fmla="val 5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35624" y="2194560"/>
            <a:ext cx="5257800" cy="36576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1892807"/>
            <a:ext cx="4709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DE0F4"/>
                </a:solidFill>
                <a:latin typeface="Calibri"/>
              </a:rPr>
              <a:t>THEME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AI-Enabled Innovation &amp; Shared 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697480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A38"/>
                </a:solidFill>
                <a:latin typeface="Calibri"/>
              </a:rPr>
              <a:t>Menjawab </a:t>
            </a:r>
            <a:r>
              <a:rPr sz="1200" b="1" i="0">
                <a:solidFill>
                  <a:srgbClr val="2E6FB7"/>
                </a:solidFill>
                <a:latin typeface="Calibri"/>
              </a:rPr>
              <a:t>BAGAIMANA audit jadi cerdas &amp; skalabel.</a:t>
            </a:r>
          </a:p>
        </p:txBody>
      </p:sp>
      <p:sp>
        <p:nvSpPr>
          <p:cNvPr id="24" name="Oval 23"/>
          <p:cNvSpPr/>
          <p:nvPr/>
        </p:nvSpPr>
        <p:spPr>
          <a:xfrm>
            <a:off x="6428232" y="3255264"/>
            <a:ext cx="100584" cy="100584"/>
          </a:xfrm>
          <a:prstGeom prst="ellipse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3163824"/>
            <a:ext cx="4480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A38"/>
                </a:solidFill>
                <a:latin typeface="Calibri"/>
              </a:rPr>
              <a:t>AI sebagai intelligence infrastructure — bukan sekadar plugin audit.</a:t>
            </a:r>
          </a:p>
        </p:txBody>
      </p:sp>
      <p:sp>
        <p:nvSpPr>
          <p:cNvPr id="26" name="Oval 25"/>
          <p:cNvSpPr/>
          <p:nvPr/>
        </p:nvSpPr>
        <p:spPr>
          <a:xfrm>
            <a:off x="6428232" y="3822191"/>
            <a:ext cx="100584" cy="100584"/>
          </a:xfrm>
          <a:prstGeom prst="ellipse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3730752"/>
            <a:ext cx="4480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A38"/>
                </a:solidFill>
                <a:latin typeface="Calibri"/>
              </a:rPr>
              <a:t>Knowledge hub lintas SAI: shared memory, multilingual search, automated learning.</a:t>
            </a:r>
          </a:p>
        </p:txBody>
      </p:sp>
      <p:sp>
        <p:nvSpPr>
          <p:cNvPr id="28" name="Oval 27"/>
          <p:cNvSpPr/>
          <p:nvPr/>
        </p:nvSpPr>
        <p:spPr>
          <a:xfrm>
            <a:off x="6428232" y="4389120"/>
            <a:ext cx="100584" cy="100584"/>
          </a:xfrm>
          <a:prstGeom prst="ellipse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4297680"/>
            <a:ext cx="4480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A38"/>
                </a:solidFill>
                <a:latin typeface="Calibri"/>
              </a:rPr>
              <a:t>Predictive analytics, NLP, anomaly detection, dan real-time monitoring.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57800"/>
            <a:ext cx="11073384" cy="822960"/>
          </a:xfrm>
          <a:prstGeom prst="roundRect">
            <a:avLst>
              <a:gd name="adj" fmla="val 12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257800"/>
            <a:ext cx="11073384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A93B"/>
                </a:solidFill>
                <a:latin typeface="Calibri"/>
              </a:rPr>
              <a:t>INTEGRATED PARADIGM 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AI-powered Sustainable Financing Accountability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7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E7E"/>
                </a:solidFill>
                <a:latin typeface="Calibri"/>
              </a:rPr>
              <a:t>Indonesia • INTOSAI Leadership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E7E"/>
                </a:solidFill>
                <a:latin typeface="Calibri"/>
              </a:rPr>
              <a:t>Menuju INCOSAI 2028  ·  </a:t>
            </a:r>
            <a:r>
              <a:rPr sz="850" b="1" i="0">
                <a:solidFill>
                  <a:srgbClr val="0B3D5C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27432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3D5C"/>
                </a:solidFill>
                <a:latin typeface="Calibri"/>
              </a:rPr>
              <a:t>MODEL INTI — PRODUK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A38"/>
                </a:solidFill>
                <a:latin typeface="Calibri"/>
              </a:rPr>
              <a:t>SGC–AI Accountability Continuum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777240" cy="41148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E7E"/>
                </a:solidFill>
                <a:latin typeface="Calibri"/>
              </a:rPr>
              <a:t>Satu alur audit dari komitmen pembiayaan hingga ketahanan pasca-2030, </a:t>
            </a:r>
            <a:r>
              <a:rPr sz="1250" b="1" i="0">
                <a:solidFill>
                  <a:srgbClr val="0B3D5C"/>
                </a:solidFill>
                <a:latin typeface="Calibri"/>
              </a:rPr>
              <a:t>diperkuat lapisan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22402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Follow the money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2656" y="1627632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1627632"/>
            <a:ext cx="22402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Follow the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58384" y="1627632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4" y="1627632"/>
            <a:ext cx="22402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Follow the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240280"/>
            <a:ext cx="1616964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240280"/>
            <a:ext cx="1616964" cy="10972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8522" y="2478024"/>
            <a:ext cx="493776" cy="493776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8522" y="2478024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081528"/>
            <a:ext cx="150723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Calibri"/>
              </a:rPr>
              <a:t>Commitment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47288"/>
            <a:ext cx="14706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E7E"/>
                </a:solidFill>
                <a:latin typeface="Calibri"/>
              </a:rPr>
              <a:t>Komitmen pembiayaan</a:t>
            </a:r>
          </a:p>
        </p:txBody>
      </p:sp>
      <p:sp>
        <p:nvSpPr>
          <p:cNvPr id="20" name="Chevron 19"/>
          <p:cNvSpPr/>
          <p:nvPr/>
        </p:nvSpPr>
        <p:spPr>
          <a:xfrm>
            <a:off x="2202180" y="3058668"/>
            <a:ext cx="237744" cy="237744"/>
          </a:xfrm>
          <a:prstGeom prst="chevron">
            <a:avLst/>
          </a:prstGeom>
          <a:solidFill>
            <a:srgbClr val="D7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58212" y="2240280"/>
            <a:ext cx="1616964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58212" y="2240280"/>
            <a:ext cx="1616964" cy="109728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19806" y="2478024"/>
            <a:ext cx="493776" cy="493776"/>
          </a:xfrm>
          <a:prstGeom prst="ellipse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9806" y="2478024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3076" y="3081528"/>
            <a:ext cx="150723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Calibri"/>
              </a:rPr>
              <a:t>Allocation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31364" y="3447288"/>
            <a:ext cx="14706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E7E"/>
                </a:solidFill>
                <a:latin typeface="Calibri"/>
              </a:rPr>
              <a:t>Alokasi &amp; governance</a:t>
            </a:r>
          </a:p>
        </p:txBody>
      </p:sp>
      <p:sp>
        <p:nvSpPr>
          <p:cNvPr id="27" name="Chevron 26"/>
          <p:cNvSpPr/>
          <p:nvPr/>
        </p:nvSpPr>
        <p:spPr>
          <a:xfrm>
            <a:off x="4093464" y="3058668"/>
            <a:ext cx="237744" cy="237744"/>
          </a:xfrm>
          <a:prstGeom prst="chevron">
            <a:avLst/>
          </a:prstGeom>
          <a:solidFill>
            <a:srgbClr val="D7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49496" y="2240280"/>
            <a:ext cx="1616964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49496" y="2240280"/>
            <a:ext cx="1616964" cy="109728"/>
          </a:xfrm>
          <a:prstGeom prst="roundRect">
            <a:avLst>
              <a:gd name="adj" fmla="val 50000"/>
            </a:avLst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11090" y="2478024"/>
            <a:ext cx="493776" cy="493776"/>
          </a:xfrm>
          <a:prstGeom prst="ellipse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1090" y="2478024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4360" y="3081528"/>
            <a:ext cx="150723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Calibri"/>
              </a:rPr>
              <a:t>Integrity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2648" y="3447288"/>
            <a:ext cx="14706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E7E"/>
                </a:solidFill>
                <a:latin typeface="Calibri"/>
              </a:rPr>
              <a:t>Implementasi &amp; integritas</a:t>
            </a:r>
          </a:p>
        </p:txBody>
      </p:sp>
      <p:sp>
        <p:nvSpPr>
          <p:cNvPr id="34" name="Chevron 33"/>
          <p:cNvSpPr/>
          <p:nvPr/>
        </p:nvSpPr>
        <p:spPr>
          <a:xfrm>
            <a:off x="5984748" y="3058668"/>
            <a:ext cx="237744" cy="237744"/>
          </a:xfrm>
          <a:prstGeom prst="chevron">
            <a:avLst/>
          </a:prstGeom>
          <a:solidFill>
            <a:srgbClr val="D7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40780" y="2240280"/>
            <a:ext cx="1616964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40780" y="2240280"/>
            <a:ext cx="1616964" cy="109728"/>
          </a:xfrm>
          <a:prstGeom prst="roundRect">
            <a:avLst>
              <a:gd name="adj" fmla="val 50000"/>
            </a:avLst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02374" y="2478024"/>
            <a:ext cx="493776" cy="493776"/>
          </a:xfrm>
          <a:prstGeom prst="ellipse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02374" y="2478024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5644" y="3081528"/>
            <a:ext cx="150723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Calibri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3932" y="3447288"/>
            <a:ext cx="14706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E7E"/>
                </a:solidFill>
                <a:latin typeface="Calibri"/>
              </a:rPr>
              <a:t>Outcome &amp; dampak</a:t>
            </a:r>
          </a:p>
        </p:txBody>
      </p:sp>
      <p:sp>
        <p:nvSpPr>
          <p:cNvPr id="41" name="Chevron 40"/>
          <p:cNvSpPr/>
          <p:nvPr/>
        </p:nvSpPr>
        <p:spPr>
          <a:xfrm>
            <a:off x="7876032" y="3058668"/>
            <a:ext cx="237744" cy="237744"/>
          </a:xfrm>
          <a:prstGeom prst="chevron">
            <a:avLst/>
          </a:prstGeom>
          <a:solidFill>
            <a:srgbClr val="D7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32063" y="2240280"/>
            <a:ext cx="1616964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32063" y="2240280"/>
            <a:ext cx="1616964" cy="109728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93658" y="2478024"/>
            <a:ext cx="493776" cy="493776"/>
          </a:xfrm>
          <a:prstGeom prst="ellipse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93658" y="2478024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6928" y="3081528"/>
            <a:ext cx="150723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Calibri"/>
              </a:rPr>
              <a:t>Resilience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5215" y="3447288"/>
            <a:ext cx="14706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E7E"/>
                </a:solidFill>
                <a:latin typeface="Calibri"/>
              </a:rPr>
              <a:t>Kesiapan pasca-2030</a:t>
            </a:r>
          </a:p>
        </p:txBody>
      </p:sp>
      <p:sp>
        <p:nvSpPr>
          <p:cNvPr id="48" name="Chevron 47"/>
          <p:cNvSpPr/>
          <p:nvPr/>
        </p:nvSpPr>
        <p:spPr>
          <a:xfrm>
            <a:off x="9767315" y="3058668"/>
            <a:ext cx="237744" cy="237744"/>
          </a:xfrm>
          <a:prstGeom prst="chevron">
            <a:avLst/>
          </a:prstGeom>
          <a:solidFill>
            <a:srgbClr val="D7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23348" y="2240280"/>
            <a:ext cx="1616964" cy="18745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023348" y="2240280"/>
            <a:ext cx="1616964" cy="109728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584942" y="2478024"/>
            <a:ext cx="493776" cy="493776"/>
          </a:xfrm>
          <a:prstGeom prst="ellipse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84942" y="2478024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8212" y="3081528"/>
            <a:ext cx="1507236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Calibri"/>
              </a:rPr>
              <a:t>Learning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3447288"/>
            <a:ext cx="14706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E7E"/>
                </a:solidFill>
                <a:latin typeface="Calibri"/>
              </a:rPr>
              <a:t>Shared knowledge antar-SAI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4434840"/>
            <a:ext cx="11073384" cy="841248"/>
          </a:xfrm>
          <a:prstGeom prst="roundRect">
            <a:avLst>
              <a:gd name="adj" fmla="val 10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66928" y="4434840"/>
            <a:ext cx="1920240" cy="841248"/>
          </a:xfrm>
          <a:prstGeom prst="roundRect">
            <a:avLst>
              <a:gd name="adj" fmla="val 1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463040" y="4434840"/>
            <a:ext cx="1024128" cy="841248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4434840"/>
            <a:ext cx="19202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AI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DE0F4"/>
                </a:solidFill>
                <a:latin typeface="Calibri"/>
              </a:rPr>
              <a:t>LAYER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97480" y="4434840"/>
            <a:ext cx="8778240" cy="8412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Data integration  •  NLP  •  anomaly detection  •  predictive modeling  •  dashboards  •  multilingual knowledge retrieval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C2D2DE"/>
                </a:solidFill>
                <a:latin typeface="Calibri"/>
              </a:rPr>
              <a:t>AI bukan plugin audit, melainkan lapisan epistemik: mengubah data menjadi bukti, insight, dan pembelajaran kolektif.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7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E7E"/>
                </a:solidFill>
                <a:latin typeface="Calibri"/>
              </a:rPr>
              <a:t>Indonesia • INTOSAI Leadership Proposal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E7E"/>
                </a:solidFill>
                <a:latin typeface="Calibri"/>
              </a:rPr>
              <a:t>Menuju INCOSAI 2028  ·  </a:t>
            </a:r>
            <a:r>
              <a:rPr sz="850" b="1" i="0">
                <a:solidFill>
                  <a:srgbClr val="0B3D5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27432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3D5C"/>
                </a:solidFill>
                <a:latin typeface="Calibri"/>
              </a:rPr>
              <a:t>OUTPUT KEPEMIMPINAN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A38"/>
                </a:solidFill>
                <a:latin typeface="Calibri"/>
              </a:rPr>
              <a:t>Warisan Konkret Indonesia untuk INTOSAI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777240" cy="41148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E7E"/>
                </a:solidFill>
                <a:latin typeface="Calibri"/>
              </a:rPr>
              <a:t>Dari gagasan menjadi standar, teknologi, dan pembelajaran — </a:t>
            </a:r>
            <a:r>
              <a:rPr sz="1250" b="1" i="0">
                <a:solidFill>
                  <a:srgbClr val="0B3D5C"/>
                </a:solidFill>
                <a:latin typeface="Calibri"/>
              </a:rPr>
              <a:t>Indonesia sebagai arsitek, bukan sekadar tuan rumah.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E9F4F0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75688"/>
            <a:ext cx="3584448" cy="27432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58444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NORMATIVE LEGACY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24327"/>
            <a:ext cx="128016" cy="128016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542032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Jakarta Declaration on Sustainable Financing Accountability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91256"/>
            <a:ext cx="128016" cy="128016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108960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INTOSAI Guidance on the SGC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58184"/>
            <a:ext cx="128016" cy="128016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675888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Post-2030 Sustainability Audit Principles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178308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E8F0F9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15968" y="1783080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2075688"/>
            <a:ext cx="3584448" cy="274320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8" y="1783080"/>
            <a:ext cx="358444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TECHNOLOGICAL LEGACY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624327"/>
            <a:ext cx="128016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1456" y="2542032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INTOSAI AI Audit Toolkit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191256"/>
            <a:ext cx="128016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108960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SGC Dashboard (real-time monitoring)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758184"/>
            <a:ext cx="128016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1456" y="3675888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AI-enabled Knowledge Hub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325112"/>
            <a:ext cx="128016" cy="128016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6" y="4242816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Audit Data Commons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7" y="178308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BF1DD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5007" y="1783080"/>
            <a:ext cx="3584448" cy="566928"/>
          </a:xfrm>
          <a:prstGeom prst="roundRect">
            <a:avLst>
              <a:gd name="adj" fmla="val 10000"/>
            </a:avLst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65007" y="2075688"/>
            <a:ext cx="3584448" cy="27432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5007" y="1783080"/>
            <a:ext cx="3584448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72A40"/>
                </a:solidFill>
                <a:latin typeface="Calibri"/>
              </a:rPr>
              <a:t>CAPACITY LEGACY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39" y="2624327"/>
            <a:ext cx="128016" cy="128016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5" y="2542032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AI Audit Certification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39" y="3191256"/>
            <a:ext cx="128016" cy="128016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0495" y="3108960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Community of Practice lintas SAI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39" y="3758184"/>
            <a:ext cx="128016" cy="128016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0495" y="3675888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Regional Centre of Excellence (Indonesia)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39" y="4325112"/>
            <a:ext cx="128016" cy="128016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0495" y="4242816"/>
            <a:ext cx="287121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A38"/>
                </a:solidFill>
                <a:latin typeface="Calibri"/>
              </a:rPr>
              <a:t>Joint Audit Learning Network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230368"/>
            <a:ext cx="11073384" cy="868680"/>
          </a:xfrm>
          <a:prstGeom prst="roundRect">
            <a:avLst>
              <a:gd name="adj" fmla="val 10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230368"/>
            <a:ext cx="146304" cy="868680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230368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A93B"/>
                </a:solidFill>
                <a:latin typeface="Calibri"/>
              </a:rPr>
              <a:t>RESPONSIBLE AI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AI augments the professional judgment of auditors — it does not replace audit responsibility.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2D2DE"/>
                </a:solidFill>
                <a:latin typeface="Calibri"/>
              </a:rPr>
              <a:t>Explainability · Fairness · Privacy · Human Oversight · Quality Assurance · Accountability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7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E7E"/>
                </a:solidFill>
                <a:latin typeface="Calibri"/>
              </a:rPr>
              <a:t>Indonesia • INTOSAI Leadership Proposal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E7E"/>
                </a:solidFill>
                <a:latin typeface="Calibri"/>
              </a:rPr>
              <a:t>Menuju INCOSAI 2028  ·  </a:t>
            </a:r>
            <a:r>
              <a:rPr sz="850" b="1" i="0">
                <a:solidFill>
                  <a:srgbClr val="0B3D5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27432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3D5C"/>
                </a:solidFill>
                <a:latin typeface="Calibri"/>
              </a:rPr>
              <a:t>DARI PROPOSAL KE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A38"/>
                </a:solidFill>
                <a:latin typeface="Calibri"/>
              </a:rPr>
              <a:t>Roadmap &amp; Positioning Indonesia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78992"/>
            <a:ext cx="777240" cy="41148"/>
          </a:xfrm>
          <a:prstGeom prst="rect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358444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84448" cy="91440"/>
          </a:xfrm>
          <a:prstGeom prst="roundRect">
            <a:avLst>
              <a:gd name="adj" fmla="val 50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12724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F8A70"/>
                </a:solidFill>
                <a:latin typeface="Calibri"/>
              </a:rPr>
              <a:t>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96312"/>
            <a:ext cx="312724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38"/>
                </a:solidFill>
                <a:latin typeface="Calibri"/>
              </a:rPr>
              <a:t>Design &amp; Coalition Building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08376"/>
            <a:ext cx="3072384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E7E"/>
                </a:solidFill>
                <a:latin typeface="Calibri"/>
              </a:rPr>
              <a:t>Bentuk working group; finalisasi konsep SGC; pemetaan data; kurasi use case AI.</a:t>
            </a:r>
          </a:p>
        </p:txBody>
      </p:sp>
      <p:sp>
        <p:nvSpPr>
          <p:cNvPr id="12" name="Chevron 11"/>
          <p:cNvSpPr/>
          <p:nvPr/>
        </p:nvSpPr>
        <p:spPr>
          <a:xfrm>
            <a:off x="4151376" y="2756915"/>
            <a:ext cx="164592" cy="292608"/>
          </a:xfrm>
          <a:prstGeom prst="chevron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5968" y="1783080"/>
            <a:ext cx="358444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584448" cy="91440"/>
          </a:xfrm>
          <a:prstGeom prst="roundRect">
            <a:avLst>
              <a:gd name="adj" fmla="val 50000"/>
            </a:avLst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2724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0A93B"/>
                </a:solidFill>
                <a:latin typeface="Calibri"/>
              </a:rPr>
              <a:t>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96312"/>
            <a:ext cx="312724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38"/>
                </a:solidFill>
                <a:latin typeface="Calibri"/>
              </a:rPr>
              <a:t>Adoption at INCOSAI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08376"/>
            <a:ext cx="3072384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E7E"/>
                </a:solidFill>
                <a:latin typeface="Calibri"/>
              </a:rPr>
              <a:t>Jakarta Declaration; INTOSAI Guidance; toolkit beta; prototipe SGC Dashboard.</a:t>
            </a:r>
          </a:p>
        </p:txBody>
      </p:sp>
      <p:sp>
        <p:nvSpPr>
          <p:cNvPr id="18" name="Chevron 17"/>
          <p:cNvSpPr/>
          <p:nvPr/>
        </p:nvSpPr>
        <p:spPr>
          <a:xfrm>
            <a:off x="7900416" y="2756915"/>
            <a:ext cx="164592" cy="292608"/>
          </a:xfrm>
          <a:prstGeom prst="chevron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65007" y="1783080"/>
            <a:ext cx="358444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65007" y="1783080"/>
            <a:ext cx="3584448" cy="91440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2011680"/>
            <a:ext cx="312724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6FB7"/>
                </a:solidFill>
                <a:latin typeface="Calibri"/>
              </a:rPr>
              <a:t>2029–2031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2496312"/>
            <a:ext cx="3127248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38"/>
                </a:solidFill>
                <a:latin typeface="Calibri"/>
              </a:rPr>
              <a:t>Scaling &amp; Institutionalization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3008376"/>
            <a:ext cx="3072384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E7E"/>
                </a:solidFill>
                <a:latin typeface="Calibri"/>
              </a:rPr>
              <a:t>Standar, training, peer learning, dan integrasi ke siklus audit SAI.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4528"/>
            <a:ext cx="11073384" cy="566928"/>
          </a:xfrm>
          <a:prstGeom prst="roundRect">
            <a:avLst>
              <a:gd name="adj" fmla="val 18000"/>
            </a:avLst>
          </a:prstGeom>
          <a:solidFill>
            <a:srgbClr val="E9F4F0"/>
          </a:solidFill>
          <a:ln w="1270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224528"/>
            <a:ext cx="11073384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8A70"/>
                </a:solidFill>
                <a:latin typeface="Calibri"/>
              </a:rPr>
              <a:t>SUCCESS METRIC   </a:t>
            </a:r>
            <a:r>
              <a:rPr sz="1200" b="1" i="0">
                <a:solidFill>
                  <a:srgbClr val="1B2A38"/>
                </a:solidFill>
                <a:latin typeface="Calibri"/>
              </a:rPr>
              <a:t>INTOSAI mengadopsi paradigma audit yang berulang untuk sustainable finance pasca-2030, didukung responsible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956048"/>
            <a:ext cx="11073384" cy="11430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956048"/>
            <a:ext cx="201168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4956048"/>
            <a:ext cx="9144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074920"/>
            <a:ext cx="103327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Indonesia offers a post-2030 accountability architecture for INTOSAI.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8D6E2"/>
                </a:solidFill>
                <a:latin typeface="Calibri"/>
              </a:rPr>
              <a:t>Menggabungkan Sustainable Financing Accountability, the Sustainability Governance Continuum, dan AI-enabled shared knowledge — </a:t>
            </a:r>
            <a:r>
              <a:rPr sz="1150" b="1" i="0">
                <a:solidFill>
                  <a:srgbClr val="E0A93B"/>
                </a:solidFill>
                <a:latin typeface="Calibri"/>
              </a:rPr>
              <a:t>kepemimpinan berbasis gagasan, teknologi, dan akuntabilitas global.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7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E7E"/>
                </a:solidFill>
                <a:latin typeface="Calibri"/>
              </a:rPr>
              <a:t>Indonesia • INTOSAI Leadership Proposal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58191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E7E"/>
                </a:solidFill>
                <a:latin typeface="Calibri"/>
              </a:rPr>
              <a:t>Menuju INCOSAI 2028  ·  </a:t>
            </a:r>
            <a:r>
              <a:rPr sz="850" b="1" i="0">
                <a:solidFill>
                  <a:srgbClr val="0B3D5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