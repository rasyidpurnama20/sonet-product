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88952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Review Paper ICICOS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DD7EE"/>
                </a:solidFill>
              </a:rPr>
              <a:t>dengan ChatGPT Plus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697480"/>
            <a:ext cx="57881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DD7EE"/>
                </a:solidFill>
              </a:rPr>
              <a:t>Panduan Praktis untuk Dosen 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Berbasis Keahlian · Terstruktur · Efisien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ICICOS 2026  ·  Juni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DD7EE"/>
                </a:solidFill>
              </a:rPr>
              <a:t>30–45 menit per paper · Kualitas lebih tinggi · Lebih konsisten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Dari keahlian kamu → review berkualitas dalam 30–45 menit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40080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69164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3990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Review = Cerminan Keahlian Kamu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19842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Skenario &amp; contoh nyata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640080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69164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3990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Setup ChatGPT Plus +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9842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Encode style kamu satu kali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640080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338328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309067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Ekstraksi Paper: Langkah Pertama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3675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Struktur sebelum analisis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2608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926080"/>
            <a:ext cx="640080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38328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09067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AI = Pelaksana Tugas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675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Pertanyaan vs. tugas yang jelas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617720"/>
            <a:ext cx="640080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" y="507492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" y="47823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Alur Lengkap 5 Langkah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7" y="53675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Dari upload ke draft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61772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617720"/>
            <a:ext cx="640080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507492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47823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Bias, Variasi &amp; Konsistensi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53675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Kualitas terjaga di setiap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· Review = Cerminan Keahlian Kamu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Reviewer yang berbeda → komentar yang berbeda → semua valid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34440"/>
            <a:ext cx="3749039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34440"/>
            <a:ext cx="3749039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Ahli ML /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93852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Baseline vs. SOTA terbaru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71576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Ablation study ada?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49300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Dataset leakage / bias?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427024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Hyperparameter justified?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749039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749039" cy="5669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2801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⚙️  Ahli Sistem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93852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Skalabilitas &amp; performa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71576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Latensi, throughput,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49300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Reproducibility &amp; open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427024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Deployment realistic?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234440"/>
            <a:ext cx="3749039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234440"/>
            <a:ext cx="3749039" cy="56692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12801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 Ahli IS / Aplikasi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3852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Masalah nyata atau akademis?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1576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User study ada?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9300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Bukan sekadar prototype?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70248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▸  Business value jelas?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5760720"/>
            <a:ext cx="11686032" cy="658368"/>
          </a:xfrm>
          <a:prstGeom prst="rect">
            <a:avLst/>
          </a:prstGeom>
          <a:solidFill>
            <a:srgbClr val="FFF0CC"/>
          </a:solidFill>
          <a:ln w="254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5870448"/>
            <a:ext cx="114574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Kunci: ChatGPT perlu tahu perspektif &amp; keahlian KAMU sebelum mulai bekerja.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· Skenario: Satu Paper, Tiga Reviewer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Paper: "Deep Learning-based Intrusion Detection System for IoT Networks"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37744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70992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Ahli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25880"/>
            <a:ext cx="9235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581912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"Dataset hanya 4 tipe serangan — tidak representatif untuk IoT production"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2377440" cy="13716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331012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Ahli Deep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926080"/>
            <a:ext cx="9235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3182112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"Tidak ada ablation study — kontribusi layer attention tidak dibuktikan terpisah"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26280"/>
            <a:ext cx="2377440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91032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Ahli IoT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4526280"/>
            <a:ext cx="9235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4782312"/>
            <a:ext cx="8915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44"/>
                </a:solidFill>
              </a:rPr>
              <a:t>"Model 47MB tidak bisa di-deploy di microcontroller — tidak ada evaluasi resource overhead"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26480"/>
            <a:ext cx="11640312" cy="502920"/>
          </a:xfrm>
          <a:prstGeom prst="rect">
            <a:avLst/>
          </a:prstGeom>
          <a:solidFill>
            <a:srgbClr val="FFF0CC"/>
          </a:solidFill>
          <a:ln w="254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236208"/>
            <a:ext cx="114117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Semua komentar valid — muncul dari perspektif berbeda.  Itulah mengapa setup keahlian di awal sangat menentukan kualitas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· Setup ChatGPT Plus +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Encode keahlian kamu sekali — aktif di semua sesi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8872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88720"/>
            <a:ext cx="54864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Chat Biasa  vs. 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792224"/>
            <a:ext cx="5486400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920240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❌ Konteks hilang tiap sesi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✅ Konteks permanen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560320"/>
            <a:ext cx="54864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688336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❌ Jelaskan ulang setiap kali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88336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✅ Setup sekali untuk semua paper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328415"/>
            <a:ext cx="5486400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456432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❌ File hilang setelah sesi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56432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✅ File tersimpan &amp; bisa dirujuk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4096512"/>
            <a:ext cx="54864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224528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❌ Tidak bisa dikustomisasi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24528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✅ Custom instructions = DNA reviewer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864608"/>
            <a:ext cx="5486400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99262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❌ Review tidak konsisten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992624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✅ Standar sama di semua paper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3328" y="1188720"/>
            <a:ext cx="5870448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3328" y="1188720"/>
            <a:ext cx="5870448" cy="47548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22529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 Langkah Setup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883664"/>
            <a:ext cx="566928" cy="5669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1901952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836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Buat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2286000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Sidebar kiri → + Projects
Nama: ICICOS Reviewer — [Nama Kamu]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3456432"/>
            <a:ext cx="566928" cy="5669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3474720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456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Isi Custom Instructions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6" y="3858768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Bidang keahlian, prioritas review,
gaya komentar, format 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5029200"/>
            <a:ext cx="566928" cy="5669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5047488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4576" y="5029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Upload File Pendukung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5431536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Form review ICICOS, template ekstraksi,
author guidelines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· Langkah Pertama: Ekstraksi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Jangan langsung minta review — struktur dulu, analisis kemudian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5394960" cy="2194560"/>
          </a:xfrm>
          <a:prstGeom prst="rect">
            <a:avLst/>
          </a:prstGeom>
          <a:solidFill>
            <a:srgbClr val="FFEB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❌  Yang Sering Dilakukan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719072"/>
            <a:ext cx="51663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Upload PDF
→  "Tolong review paper ini"
Hasil: generik, tidak sesuai ekspektasi,
perlu banyak revisi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584448"/>
            <a:ext cx="5394960" cy="2880360"/>
          </a:xfrm>
          <a:prstGeom prst="rect">
            <a:avLst/>
          </a:prstGeom>
          <a:solidFill>
            <a:srgbClr val="E8F5E9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639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✅  Yang Seharusnya Dilakukan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14800"/>
            <a:ext cx="51663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Upload PDF
→  Ekstraksi terstruktur
→  Koreksi hasil ekstraksi
→  Beri tugas spesifik per area
→  Edit &amp; submit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207008"/>
            <a:ext cx="59436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207008"/>
            <a:ext cx="5943600" cy="47548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43584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Kenapa Ekstraksi Penting?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92224"/>
            <a:ext cx="347472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80136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92224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Paper PDF panjang &amp; berantakan →
ChatGPT bisa kehilangan fokus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688336"/>
            <a:ext cx="347472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697479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88336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Ekstraksi memaksa struktur →
Kamu tahu persis info yang ditangkap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584448"/>
            <a:ext cx="347472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593591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84448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Hasil bisa dikoreksi dulu →
Sebelum lanjut ke analisis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347472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48970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80560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Mudah temukan gap →
Klaim vs. isi paper yang sebenarnya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376672"/>
            <a:ext cx="347472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38581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76672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4 template tersedia →
ML, Sistem, Survei, IS/Aplikasi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· Empat Template Ekstraksi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Pilih sesuai tipe paper — tersedia di file template-ekstraksi-paper.md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07008"/>
            <a:ext cx="5687568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07008"/>
            <a:ext cx="640080" cy="2487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121408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1673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Template A · ML /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8013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Arsitektur &amp; klaim 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2585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Dataset, split, metrik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7157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Baseline &amp; hasil (angka)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1729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Ablation study ada?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07008"/>
            <a:ext cx="5687568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07008"/>
            <a:ext cx="640080" cy="2487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121408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131673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FBF"/>
                </a:solidFill>
              </a:rPr>
              <a:t>Template B · Sistem / Implementasi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8013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Komponen &amp; stack teknologi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2585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Metrik performa sistem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27157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User study ada?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1729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Open source / reproducible?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877056"/>
            <a:ext cx="5687568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3877056"/>
            <a:ext cx="640080" cy="248716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791456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986784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0DAD"/>
                </a:solidFill>
              </a:rPr>
              <a:t>Template C · Survei / Lit.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4714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Jumlah &amp; kriteria paper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9286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Taksonomi yang diusulkan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53858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Tabel perbandingan ada?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58430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Research gap teridentifikasi?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877056"/>
            <a:ext cx="5687568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877056"/>
            <a:ext cx="640080" cy="248716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4791456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986784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Template D · IS / Aplikasi Bisnis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4714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Domain &amp; konteks organisasi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9286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Framework teoritis (TAM, dll.)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53858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User study &amp; jumlah partisipan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58430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▸  Implementasi nyata atau prototype?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6455664"/>
            <a:ext cx="11676888" cy="201168"/>
          </a:xfrm>
          <a:prstGeom prst="rect">
            <a:avLst/>
          </a:prstGeom>
          <a:solidFill>
            <a:srgbClr val="FFF0CC"/>
          </a:solidFill>
          <a:ln w="254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6565392"/>
            <a:ext cx="11448288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💡  Tambahkan poin kustomisasi sesuai keahlianmu (Computer Vision, NLP, Network Security, IoT/Embedded) di bagian Kustomisasi Template.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· AI adalah Pelaksana Tugas, Bukan Penjawab Pertanyaan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Pergeseran mindset yang paling penting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5486400" cy="5230368"/>
          </a:xfrm>
          <a:prstGeom prst="rect">
            <a:avLst/>
          </a:prstGeom>
          <a:solidFill>
            <a:srgbClr val="FFEB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❌  Pertanyaan (Lemah)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"Apa kelemahan paper ini?"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26080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99232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"Bagaimana metodologinya?"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005072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078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"Apakah hasilnya valid?"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084064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157216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</a:rPr>
              <a:t>"Review bagian referensi"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1207008"/>
            <a:ext cx="5870448" cy="5230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8648"/>
                </a:solidFill>
              </a:rPr>
              <a:t>✅  Tugas (Kuat)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847088"/>
            <a:ext cx="5577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901952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8648"/>
                </a:solidFill>
              </a:rPr>
              <a:t>Cek apakah baseline (KNN, SVM, RF, LSTM)
sudah mencakup metode 2022–2024.
Jika ada gap, sebutkan paper spesifik.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2926080"/>
            <a:ext cx="5577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980944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8648"/>
                </a:solidFill>
              </a:rPr>
              <a:t>Cek Section 3: ada penjelasan
hyperparameter tuning?
Tulis komentar reviewer memintanya.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4005072"/>
            <a:ext cx="5577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059935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8648"/>
                </a:solidFill>
              </a:rPr>
              <a:t>NSL-KDD dirilis 2009. Buat komentar
yang mengevaluasi relevansinya untuk
paper IoT tahun 2025.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84064"/>
            <a:ext cx="5577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5138928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8648"/>
                </a:solidFill>
              </a:rPr>
              <a:t>Dari referensi: identifikasi paper &gt;2020
vs. &lt;2018. Nilai komposisi ini wajar
untuk deep learning 2025.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· Struktur Tugas yang Efektif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Setiap tugas review = KONTEKS + INSTRUKSI SPESIFIK + FORMAT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07008"/>
            <a:ext cx="3749039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261872"/>
            <a:ext cx="35204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KONTEKS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194560"/>
            <a:ext cx="3749039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286000"/>
            <a:ext cx="35204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Berikan info dari hasil ekstraksi
yang relevan untuk tugas 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547872"/>
            <a:ext cx="3749039" cy="2944368"/>
          </a:xfrm>
          <a:prstGeom prst="rect">
            <a:avLst/>
          </a:prstGeom>
          <a:solidFill>
            <a:srgbClr val="F0F6FF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36118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Contoh: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931920"/>
            <a:ext cx="3520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44444"/>
                </a:solidFill>
              </a:rPr>
              <a:t>"Baseline yang digunakan:
KNN, SVM, RF, LSTM.
Paper ditulis tahun 2025
untuk IoT IDS."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07008"/>
            <a:ext cx="3749039" cy="98755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261872"/>
            <a:ext cx="35204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INSTRUKSI
SPESIFIK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194560"/>
            <a:ext cx="3749039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286000"/>
            <a:ext cx="35204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Satu tugas jelas, bukan
pertanyaan terbuka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547872"/>
            <a:ext cx="3749039" cy="2944368"/>
          </a:xfrm>
          <a:prstGeom prst="rect">
            <a:avLst/>
          </a:prstGeom>
          <a:solidFill>
            <a:srgbClr val="F0F6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6118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FBF"/>
                </a:solidFill>
              </a:rPr>
              <a:t>Contoh: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31920"/>
            <a:ext cx="3520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44444"/>
                </a:solidFill>
              </a:rPr>
              <a:t>"Evaluasi apakah baseline
up-to-date. Cari di referensi
apakah ada transformer/GNN
untuk IDS."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207008"/>
            <a:ext cx="3749039" cy="9875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261872"/>
            <a:ext cx="35204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FORMAT
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2194560"/>
            <a:ext cx="3749039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2286000"/>
            <a:ext cx="35204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Tentukan bentuk hasil yang
kamu inginkan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6448" y="3547872"/>
            <a:ext cx="3749039" cy="2944368"/>
          </a:xfrm>
          <a:prstGeom prst="rect">
            <a:avLst/>
          </a:prstGeom>
          <a:solidFill>
            <a:srgbClr val="F0F6FF"/>
          </a:solidFill>
          <a:ln w="127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36118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B39"/>
                </a:solidFill>
              </a:rPr>
              <a:t>Contoh: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931920"/>
            <a:ext cx="3520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44444"/>
                </a:solidFill>
              </a:rPr>
              <a:t>"Tulis:
• Temuan tentang baseline
• Paper yang terlewat
• Draft komentar reviewer
  (3-4 kalimat, Inggris)"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B39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B39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· Alur Lengkap: 5 Langkah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Dari upload paper ke draft review siap submit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07008"/>
            <a:ext cx="9144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029968"/>
            <a:ext cx="20574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2084831"/>
            <a:ext cx="1984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688336"/>
            <a:ext cx="20574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761488"/>
            <a:ext cx="1892807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44444"/>
                </a:solidFill>
              </a:rPr>
              <a:t>Upload PDF ke
Project ChatGPT 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4231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3824" y="1207008"/>
            <a:ext cx="914400" cy="8229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3824" y="1225296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6896" y="2029968"/>
            <a:ext cx="2057400" cy="6583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5" y="2084831"/>
            <a:ext cx="1984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EKSTRAKSI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6896" y="2688336"/>
            <a:ext cx="20574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8336" y="2761488"/>
            <a:ext cx="1892807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44444"/>
                </a:solidFill>
              </a:rPr>
              <a:t>Kirim prompt dari
template-ekstraksi-paper.md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4231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4688" y="1207008"/>
            <a:ext cx="914400" cy="8229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1225296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029968"/>
            <a:ext cx="2057400" cy="65836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2084831"/>
            <a:ext cx="1984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KOREKSI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688336"/>
            <a:ext cx="20574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761488"/>
            <a:ext cx="1892807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44444"/>
                </a:solidFill>
              </a:rPr>
              <a:t>Baca &amp; koreksi hasil
extraksi — jangan skip!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4231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45552" y="1207008"/>
            <a:ext cx="914400" cy="8229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1225296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8624" y="2029968"/>
            <a:ext cx="2057400" cy="65836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344" y="2084831"/>
            <a:ext cx="1984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TUGAS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78624" y="2688336"/>
            <a:ext cx="20574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0064" y="2761488"/>
            <a:ext cx="1892807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44444"/>
                </a:solidFill>
              </a:rPr>
              <a:t>Beri tugas spesifik
per area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4231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86415" y="1207008"/>
            <a:ext cx="914400" cy="8229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6415" y="1225296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19488" y="2029968"/>
            <a:ext cx="2057400" cy="65836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65208" y="2084831"/>
            <a:ext cx="1984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9488" y="2688336"/>
            <a:ext cx="20574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0928" y="2761488"/>
            <a:ext cx="1892807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44444"/>
                </a:solidFill>
              </a:rPr>
              <a:t>Edit output AI
+ keahlian kamu → submit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160520"/>
            <a:ext cx="11686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6032" y="4160520"/>
            <a:ext cx="11686032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Estimasi Waktu per Paper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681728"/>
            <a:ext cx="2084831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7548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Upload + Ekstraksi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" y="53949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10 menit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7208" y="4681728"/>
            <a:ext cx="2084831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80360" y="47548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Koreksi hasil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53949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5 menit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11496" y="4681728"/>
            <a:ext cx="2084831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84648" y="47548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Tugas per area (4×)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53949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15 menit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15784" y="4681728"/>
            <a:ext cx="2084831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88936" y="47548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Edit &amp; finalisasi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88936" y="53949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10–15 menit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20072" y="4681728"/>
            <a:ext cx="2084831" cy="15727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93224" y="47548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93224" y="53949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B39"/>
                </a:solidFill>
              </a:rPr>
              <a:t>~40–45 menit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· Jaga Bias, Variasi &amp; Konsistensi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</a:rPr>
              <a:t>Tiga hal yang menentukan kualitas review di seluruh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07008"/>
            <a:ext cx="3749039" cy="532180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07008"/>
            <a:ext cx="3749039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5272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⚠️ 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ChatGPT cenderung mengonfirmasi framing kamu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70048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Pisahkan: minta kelemahan dulu, baru kelebihan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419856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Teks Inggris bagus → evaluasi lebih positif (salah!)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16966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Solusi: "Abaikan kualitas bahasa — fokus eksperimen"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07008"/>
            <a:ext cx="3749039" cy="5321808"/>
          </a:xfrm>
          <a:prstGeom prst="rect">
            <a:avLst/>
          </a:prstGeom>
          <a:solidFill>
            <a:srgbClr val="FFFFFF"/>
          </a:solidFill>
          <a:ln w="254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07008"/>
            <a:ext cx="3749039" cy="5486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25272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🔀  Variasi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Jika ragu, minta 3 versi komentar: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70048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  • Versi Major Revision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19856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  • Versi Minor Revision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6966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  • Versi hanya klarifikasi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9472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Pilih yang sesuai penilaian expert kamu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1207008"/>
            <a:ext cx="3749039" cy="5321808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1207008"/>
            <a:ext cx="3749039" cy="5486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25272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✅  Konsistensi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1920240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Satu chat per paper — jangan ganti-ganti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670048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Gunakan Project agar style sama di semua paper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419856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Cross-check: "Apakah penilaian novelty konsisten
  dengan metodologi?"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16966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Final check: "Adakah inkonsistensi di semua komentar?"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37947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99232"/>
            <a:ext cx="12188952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Kamu yang Ahli.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DD7EE"/>
                </a:solidFill>
              </a:rPr>
              <a:t>AI yang Mengerjakan.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6702552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DD7EE"/>
                </a:solidFill>
              </a:rPr>
              <a:t>Encode keahlianmu sekali · Ekstrak dulu · Beri tugas yang jelas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37560"/>
            <a:ext cx="3017520" cy="16642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3401568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B39"/>
                </a:solidFill>
              </a:rPr>
              <a:t>~40 menit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416052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per 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337560"/>
            <a:ext cx="3017520" cy="16642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401568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B39"/>
                </a:solidFill>
              </a:rPr>
              <a:t>4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16052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ekstraksi siap pakai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337560"/>
            <a:ext cx="3017520" cy="16642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401568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B39"/>
                </a:solidFill>
              </a:rPr>
              <a:t>1×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16052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untuk semua paper ICICOS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Panduan lengkap: tutorials/panduan-review-paper-icicos-chatgpt.md
Template ekstraksi: tutorials/template-ekstraksi-paper.md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ICICOS 2026  ·  Juni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