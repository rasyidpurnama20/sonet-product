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PANDUAN REVIEWER ICICoS 2026</a:t>
            </a:r>
          </a:p>
          <a:p>
            <a:pPr algn="ctr">
              <a:spcAft>
                <a:spcPts val="2000"/>
              </a:spcAft>
              <a:defRPr sz="2400" b="0">
                <a:solidFill>
                  <a:srgbClr val="00D4FF"/>
                </a:solidFill>
              </a:defRPr>
            </a:pPr>
            <a:r>
              <a:t>Review Berbantuan AI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94A3B8"/>
                </a:solidFill>
              </a:defRPr>
            </a:pPr>
            <a:r>
              <a:t>Prinsip, Nilai, dan Kontrol Penting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4572000"/>
            <a:ext cx="2743200" cy="548640"/>
          </a:xfrm>
          <a:prstGeom prst="roundRect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D4FF"/>
                </a:solidFill>
              </a:defRPr>
            </a:pPr>
            <a:r>
              <a:t>ICICoS 2026 Conference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00D4FF"/>
                </a:solidFill>
              </a:defRPr>
            </a:pPr>
            <a:r>
              <a:t>Reviewer Manual vs Reviewer +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023360" cy="50292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REVIEWER MANUAL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737360"/>
            <a:ext cx="3840480" cy="548640"/>
          </a:xfrm>
          <a:prstGeom prst="roundRect">
            <a:avLst/>
          </a:prstGeom>
          <a:noFill/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Membaca &amp; menilai sendiri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423160"/>
            <a:ext cx="3840480" cy="548640"/>
          </a:xfrm>
          <a:prstGeom prst="roundRect">
            <a:avLst/>
          </a:prstGeom>
          <a:noFill/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Format komentar bervariasi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108960"/>
            <a:ext cx="3840480" cy="548640"/>
          </a:xfrm>
          <a:prstGeom prst="roundRect">
            <a:avLst/>
          </a:prstGeom>
          <a:noFill/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Risiko miss section tertentu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94760"/>
            <a:ext cx="3840480" cy="548640"/>
          </a:xfrm>
          <a:prstGeom prst="roundRect">
            <a:avLst/>
          </a:prstGeom>
          <a:noFill/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Konsistensi tergantung mood/waktu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480560"/>
            <a:ext cx="3840480" cy="548640"/>
          </a:xfrm>
          <a:prstGeom prst="roundRect">
            <a:avLst/>
          </a:prstGeom>
          <a:noFill/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Nada bisa subjektif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166360"/>
            <a:ext cx="3840480" cy="548640"/>
          </a:xfrm>
          <a:prstGeom prst="roundRect">
            <a:avLst/>
          </a:prstGeom>
          <a:noFill/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Keputusan: 100% manusia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097280"/>
            <a:ext cx="4023360" cy="50292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REVIEWER +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737360"/>
            <a:ext cx="3840480" cy="54864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AI bantu checklist &amp; struktur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423160"/>
            <a:ext cx="3840480" cy="54864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Format konsisten (14 template)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3108960"/>
            <a:ext cx="3840480" cy="54864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Semua section tertinjau sistematis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3794760"/>
            <a:ext cx="3840480" cy="54864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Konsistensi terjaga (AI checklist)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4480560"/>
            <a:ext cx="3840480" cy="54864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Nada profesional (AI perapih)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5166360"/>
            <a:ext cx="3840480" cy="54864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Keputusan: TETAP 100% manusia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FBBF24"/>
                </a:solidFill>
              </a:defRPr>
            </a:pPr>
            <a:r>
              <a:t>AI = Asisten, BUKAN pengganti. Keputusan Accept/Reject tetap tanggung jawab reviewer.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D4FF"/>
                </a:solidFill>
              </a:defRPr>
            </a:pPr>
            <a:r>
              <a:t>7 Aturan Etika Penggunaan AI dalam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371600" cy="5029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1B2A"/>
                </a:solidFill>
              </a:defRPr>
            </a:pPr>
            <a:r>
              <a:t>DILARANG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005840"/>
            <a:ext cx="6858000" cy="502920"/>
          </a:xfrm>
          <a:prstGeom prst="round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Upload manuskrip ke AI publik (rahasia!)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83080"/>
            <a:ext cx="1371600" cy="5029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1B2A"/>
                </a:solidFill>
              </a:defRPr>
            </a:pPr>
            <a:r>
              <a:t>DILARANG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783080"/>
            <a:ext cx="6858000" cy="502920"/>
          </a:xfrm>
          <a:prstGeom prst="round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Delegasi keputusan akhir ke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560320"/>
            <a:ext cx="1371600" cy="5029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1B2A"/>
                </a:solidFill>
              </a:defRPr>
            </a:pPr>
            <a:r>
              <a:t>DILARANG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560320"/>
            <a:ext cx="6858000" cy="502920"/>
          </a:xfrm>
          <a:prstGeom prst="round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Klaim/temuan fiktif dari AI (halusinasi)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337560"/>
            <a:ext cx="1371600" cy="50292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1B2A"/>
                </a:solidFill>
              </a:defRPr>
            </a:pPr>
            <a:r>
              <a:t>BOLEH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337560"/>
            <a:ext cx="6858000" cy="50292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AI sebagai asisten bahasa (tata bahasa, nada)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114800"/>
            <a:ext cx="1371600" cy="50292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1B2A"/>
                </a:solidFill>
              </a:defRPr>
            </a:pPr>
            <a:r>
              <a:t>BOLEH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114800"/>
            <a:ext cx="6858000" cy="50292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AI sebagai checklist/penstruktur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892040"/>
            <a:ext cx="1371600" cy="50292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1B2A"/>
                </a:solidFill>
              </a:defRPr>
            </a:pPr>
            <a:r>
              <a:t>BOLEH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892040"/>
            <a:ext cx="6858000" cy="50292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AI untuk brainstorming pertanyaan (verifikasi manual!)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669279"/>
            <a:ext cx="1371600" cy="5029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1B2A"/>
                </a:solidFill>
              </a:defRPr>
            </a:pPr>
            <a:r>
              <a:t>WAJIB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669279"/>
            <a:ext cx="6858000" cy="502920"/>
          </a:xfrm>
          <a:prstGeom prst="roundRect">
            <a:avLst/>
          </a:prstGeom>
          <a:noFill/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Akuntabilitas: komentar harus bisa ditelusuri ke paper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D4FF"/>
                </a:solidFill>
              </a:defRPr>
            </a:pPr>
            <a:r>
              <a:t>Kontrol Kelemahan AI dalam Peer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2743200" cy="64008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HALUSINASI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2743200" cy="502920"/>
          </a:xfrm>
          <a:prstGeom prst="round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Aturan Bukti-atau-Hapus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468880"/>
            <a:ext cx="2743200" cy="502920"/>
          </a:xfrm>
          <a:prstGeom prst="round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Wajib tunjuk hal/baris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108960"/>
            <a:ext cx="2743200" cy="502920"/>
          </a:xfrm>
          <a:prstGeom prst="round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Komentar tanpa rujukan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49039"/>
            <a:ext cx="2743200" cy="502920"/>
          </a:xfrm>
          <a:prstGeom prst="round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= tidak sah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05840"/>
            <a:ext cx="2743200" cy="6400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KERAHASIAAN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743200" cy="502920"/>
          </a:xfrm>
          <a:prstGeom prst="roundRect">
            <a:avLst/>
          </a:prstGeom>
          <a:noFill/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Jangan upload ke AI publik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468880"/>
            <a:ext cx="2743200" cy="502920"/>
          </a:xfrm>
          <a:prstGeom prst="roundRect">
            <a:avLst/>
          </a:prstGeom>
          <a:noFill/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Matikan model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108960"/>
            <a:ext cx="2743200" cy="502920"/>
          </a:xfrm>
          <a:prstGeom prst="roundRect">
            <a:avLst/>
          </a:prstGeom>
          <a:noFill/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Gunakan Temporary Chat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749039"/>
            <a:ext cx="2743200" cy="502920"/>
          </a:xfrm>
          <a:prstGeom prst="roundRect">
            <a:avLst/>
          </a:prstGeom>
          <a:noFill/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Kutip max 1-2 kalimat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05840"/>
            <a:ext cx="2743200" cy="6400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DELEGASI</a:t>
            </a:r>
            <a:br/>
            <a:r>
              <a:t>KEPUTUSAN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743200" cy="502920"/>
          </a:xfrm>
          <a:prstGeom prst="roundRect">
            <a:avLst/>
          </a:prstGeom>
          <a:noFill/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Accept/Reject = manusia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468880"/>
            <a:ext cx="2743200" cy="502920"/>
          </a:xfrm>
          <a:prstGeom prst="roundRect">
            <a:avLst/>
          </a:prstGeom>
          <a:noFill/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AI hanya brainstorm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08960"/>
            <a:ext cx="2743200" cy="502920"/>
          </a:xfrm>
          <a:prstGeom prst="roundRect">
            <a:avLst/>
          </a:prstGeom>
          <a:noFill/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Reviewer verifikasi semua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39"/>
            <a:ext cx="2743200" cy="502920"/>
          </a:xfrm>
          <a:prstGeom prst="roundRect">
            <a:avLst/>
          </a:prstGeom>
          <a:noFill/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Akuntabilitas penuh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54880"/>
            <a:ext cx="7315200" cy="640080"/>
          </a:xfrm>
          <a:prstGeom prst="roundRect">
            <a:avLst/>
          </a:prstGeom>
          <a:noFill/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Prinsip Utama: AI memperkuat review, BUKAN menggantikan reviewer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D4FF"/>
                </a:solidFill>
              </a:defRPr>
            </a:pPr>
            <a:r>
              <a:t>14 Format Komentar Terstruktur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4206240" cy="54864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#1  Kutipan + Tanggapan + Saran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737360"/>
            <a:ext cx="4206240" cy="54864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#2  Klasifikasi (Major/Minor/Optional)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468880"/>
            <a:ext cx="4206240" cy="54864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#3  Pertanyaan (Clarification)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200400"/>
            <a:ext cx="4206240" cy="54864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#4  Strength - Weakness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931920"/>
            <a:ext cx="4206240" cy="548640"/>
          </a:xfrm>
          <a:prstGeom prst="roundRect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#5  Claim - Evidence -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663440"/>
            <a:ext cx="4206240" cy="548640"/>
          </a:xfrm>
          <a:prstGeom prst="roundRect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#6  Actionable (ber-referensi baris)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5394960"/>
            <a:ext cx="4206240" cy="548640"/>
          </a:xfrm>
          <a:prstGeom prst="roundRect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#7  Severity + Fix +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005840"/>
            <a:ext cx="4206240" cy="548640"/>
          </a:xfrm>
          <a:prstGeom prst="roundRect">
            <a:avLst/>
          </a:prstGeom>
          <a:noFill/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#8  Reproducibility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737360"/>
            <a:ext cx="4206240" cy="548640"/>
          </a:xfrm>
          <a:prstGeom prst="roundRect">
            <a:avLst/>
          </a:prstGeom>
          <a:noFill/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#9  Positioning Literatur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468880"/>
            <a:ext cx="4206240" cy="548640"/>
          </a:xfrm>
          <a:prstGeom prst="roundRect">
            <a:avLst/>
          </a:prstGeom>
          <a:noFill/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#10 Probe Asumsi / Hipotesis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200400"/>
            <a:ext cx="4206240" cy="548640"/>
          </a:xfrm>
          <a:prstGeom prst="roundRect">
            <a:avLst/>
          </a:prstGeom>
          <a:noFill/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#11 Rigor Metodologis / Statistik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931920"/>
            <a:ext cx="4206240" cy="548640"/>
          </a:xfrm>
          <a:prstGeom prst="roundRect">
            <a:avLst/>
          </a:prstGeom>
          <a:noFill/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#12 Kejelasan &amp; Presentasi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663440"/>
            <a:ext cx="4206240" cy="548640"/>
          </a:xfrm>
          <a:prstGeom prst="roundRect">
            <a:avLst/>
          </a:prstGeom>
          <a:noFill/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#13 Consider (saran lunak)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5394960"/>
            <a:ext cx="4206240" cy="548640"/>
          </a:xfrm>
          <a:prstGeom prst="roundRect">
            <a:avLst/>
          </a:prstGeom>
          <a:noFill/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#14 Komentar Apresiatif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94A3B8"/>
                </a:solidFill>
              </a:defRPr>
            </a:pPr>
            <a:r>
              <a:t>Tag: [ID-komentar] [Section] [Format#] [Severity] [Status: Open/Resolved]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D4FF"/>
                </a:solidFill>
              </a:defRPr>
            </a:pPr>
            <a:r>
              <a:t>Pengaturan Keamanan ChatGPT untuk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5029200" cy="4572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LANGKAH PENGATURAN DATA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029200" cy="45720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1. Buka ChatGPT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029200" cy="45720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2. Klik profil/nama akun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5029200" cy="45720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3. Masuk ke Settings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5029200" cy="45720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4. Pilih Data Controls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5029200" cy="45720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5. Matikan "Improve the model for everyone"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914400"/>
            <a:ext cx="3200400" cy="4572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FILE UPLOAD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463040"/>
            <a:ext cx="3200400" cy="1645920"/>
          </a:xfrm>
          <a:prstGeom prst="roundRect">
            <a:avLst/>
          </a:prstGeom>
          <a:noFill/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File &amp; chat mengikuti</a:t>
            </a:r>
            <a:br/>
            <a:r>
              <a:t>settings Data Controls.</a:t>
            </a:r>
            <a:br/>
            <a:br/>
            <a:r>
              <a:t>Matikan training</a:t>
            </a:r>
            <a:br/>
            <a:r>
              <a:t>SEBELUM upload</a:t>
            </a:r>
            <a:br/>
            <a:r>
              <a:t>dokumen penting.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8229600" cy="4572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TEMPORARY CHAT (untuk percakapan sangat sensitif)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8229600" cy="41148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[+] Tidak muncul di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57800"/>
            <a:ext cx="8229600" cy="41148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[+] Tidak membuat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760720"/>
            <a:ext cx="8229600" cy="41148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[+] Tidak digunakan untuk melatih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263640"/>
            <a:ext cx="8229600" cy="411480"/>
          </a:xfrm>
          <a:prstGeom prst="roundRect">
            <a:avLst/>
          </a:prstGeom>
          <a:noFill/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E2E8F0"/>
                </a:solidFill>
              </a:defRPr>
            </a:pPr>
            <a:r>
              <a:t>  [!] Catatan: salinan disimpan maks 30 hari (abuse monitoring)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00D4FF"/>
                </a:solidFill>
              </a:defRPr>
            </a:pPr>
            <a:r>
              <a:t>Ringkasan: Prinsip &amp; Nilai Utama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2103120" cy="5486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2A"/>
                </a:solidFill>
              </a:defRPr>
            </a:pPr>
            <a:r>
              <a:t>Kerahasiaan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005840"/>
            <a:ext cx="6217920" cy="548640"/>
          </a:xfrm>
          <a:prstGeom prst="roundRect">
            <a:avLst/>
          </a:prstGeom>
          <a:noFill/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Jangan upload manuskrip ke AI publik, atur Data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74519"/>
            <a:ext cx="2103120" cy="54864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2A"/>
                </a:solidFill>
              </a:defRPr>
            </a:pPr>
            <a:r>
              <a:t>Akuntabilitas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874519"/>
            <a:ext cx="6217920" cy="548640"/>
          </a:xfrm>
          <a:prstGeom prst="roundRect">
            <a:avLst/>
          </a:prstGeom>
          <a:noFill/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Setiap komentar harus merujuk halaman/baris paper nyata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743200"/>
            <a:ext cx="2103120" cy="5486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2A"/>
                </a:solidFill>
              </a:defRPr>
            </a:pPr>
            <a:r>
              <a:t>Keputusan Manusia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743200"/>
            <a:ext cx="6217920" cy="548640"/>
          </a:xfrm>
          <a:prstGeom prst="roundRect">
            <a:avLst/>
          </a:prstGeom>
          <a:noFill/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Accept/Reject tidak boleh didelegasikan ke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611879"/>
            <a:ext cx="2103120" cy="5486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2A"/>
                </a:solidFill>
              </a:defRPr>
            </a:pPr>
            <a:r>
              <a:t>Anti-Halusinasi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3611879"/>
            <a:ext cx="6217920" cy="548640"/>
          </a:xfrm>
          <a:prstGeom prst="roundRect">
            <a:avLst/>
          </a:prstGeom>
          <a:noFill/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Aturan Bukti-atau-Hapus: tanpa bukti = tidak sah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480560"/>
            <a:ext cx="2103120" cy="5486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2A"/>
                </a:solidFill>
              </a:defRPr>
            </a:pPr>
            <a:r>
              <a:t>Nada Konstruktif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4480560"/>
            <a:ext cx="6217920" cy="548640"/>
          </a:xfrm>
          <a:prstGeom prst="roundRect">
            <a:avLst/>
          </a:prstGeom>
          <a:noFill/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Kritik ke naskah, bukan penulis. Spesifik &amp; netral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349240"/>
            <a:ext cx="2103120" cy="5486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2A"/>
                </a:solidFill>
              </a:defRPr>
            </a:pPr>
            <a:r>
              <a:t>Format Terstruktur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5349240"/>
            <a:ext cx="6217920" cy="548640"/>
          </a:xfrm>
          <a:prstGeom prst="roundRect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14 format komentar + tag tracking antar-ronde revisi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94A3B8"/>
                </a:solidFill>
              </a:defRPr>
            </a:pPr>
            <a:r>
              <a:t>"AI memperkuat kemampuan reviewer, tetapi integritas tetap di tangan manusia."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