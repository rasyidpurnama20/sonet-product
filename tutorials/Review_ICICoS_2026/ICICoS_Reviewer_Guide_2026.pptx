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2560320" cy="38404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ICICoS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Panduan Reviewer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A8C8FF"/>
                </a:solidFill>
              </a:rPr>
              <a:t>Review Berbantuan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520440"/>
            <a:ext cx="4114800" cy="5486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703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8E8"/>
                </a:solidFill>
              </a:rPr>
              <a:t>Panduan Umum · Berlaku semua topik ICICoS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60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Versi 1.1  |  Bahasa Indonesia /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Bagian A  ·  B  ·  C  ·  D  ·  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Alur Kerja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C8FF"/>
                </a:solidFill>
              </a:rPr>
              <a:t>Ikuti urutan bagian secara berurutan sebelum mengisi rubrik penilaian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10312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44752"/>
            <a:ext cx="731520" cy="731520"/>
          </a:xfrm>
          <a:prstGeom prst="ellipse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4A"/>
                </a:solidFill>
              </a:rPr>
              <a:t>Deklarasi Awal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71800"/>
            <a:ext cx="1554480" cy="36576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1089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A"/>
                </a:solidFill>
              </a:rPr>
              <a:t>Identitas paper,
keahlian &amp; tingkat
keyakinan reviewer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3335" y="3017520"/>
            <a:ext cx="140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6BBF"/>
                </a:solidFill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8" y="1280160"/>
            <a:ext cx="210312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10128" y="1444752"/>
            <a:ext cx="731520" cy="731520"/>
          </a:xfrm>
          <a:prstGeom prst="ellipse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4447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4A"/>
                </a:solidFill>
              </a:rPr>
              <a:t>Rubrik Penilaian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2971800"/>
            <a:ext cx="1554480" cy="36576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5768" y="31089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A"/>
                </a:solidFill>
              </a:rPr>
              <a:t>Overall Evaluation
(7 level), Confidence
(0–4), 5 Quality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7623" y="3017520"/>
            <a:ext cx="140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6BBF"/>
                </a:solidFill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8616" y="1280160"/>
            <a:ext cx="210312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14416" y="1444752"/>
            <a:ext cx="731520" cy="731520"/>
          </a:xfrm>
          <a:prstGeom prst="ellipse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14416" y="14447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0056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4A"/>
                </a:solidFill>
              </a:rPr>
              <a:t>Checklist Seksi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02936" y="2971800"/>
            <a:ext cx="1554480" cy="36576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0056" y="31089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A"/>
                </a:solidFill>
              </a:rPr>
              <a:t>C.1 Abstract s.d.
C.11 Tata Bahasa
&amp; Konsistensi Istilah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1911" y="3017520"/>
            <a:ext cx="140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6BBF"/>
                </a:solidFill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32904" y="1280160"/>
            <a:ext cx="210312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8704" y="1444752"/>
            <a:ext cx="731520" cy="731520"/>
          </a:xfrm>
          <a:prstGeom prst="ellipse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18704" y="14447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344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4A"/>
                </a:solidFill>
              </a:rPr>
              <a:t>Komentar Terstruktur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07224" y="2971800"/>
            <a:ext cx="1554480" cy="36576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24344" y="31089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A"/>
                </a:solidFill>
              </a:rPr>
              <a:t>5 Format komentar
+ Definisi Severity
(MAJOR/MINOR/SARAN)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66199" y="3017520"/>
            <a:ext cx="14081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6BBF"/>
                </a:solidFill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37192" y="1280160"/>
            <a:ext cx="210312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22992" y="1444752"/>
            <a:ext cx="731520" cy="731520"/>
          </a:xfrm>
          <a:prstGeom prst="ellipse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22992" y="144475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22860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4A"/>
                </a:solidFill>
              </a:rPr>
              <a:t>Etika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11512" y="2971800"/>
            <a:ext cx="1554480" cy="36576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28632" y="310896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657A"/>
                </a:solidFill>
              </a:rPr>
              <a:t>4 aturan wajib
penggunaan AI
dalam proses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Bagian A — Deklarasi Awal  ·  Bagian B — Rubrik Penilaian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53949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394960" cy="457200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  Deklarasi Awal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1737360" cy="548640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8308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BF"/>
                </a:solidFill>
              </a:rPr>
              <a:t>paper_id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Diisi sesuai sistem submission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95728"/>
            <a:ext cx="1737360" cy="548640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44144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BF"/>
                </a:solidFill>
              </a:rPr>
              <a:t>paper_title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4871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Sesuai judul naskah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54096"/>
            <a:ext cx="1737360" cy="548640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309981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BF"/>
                </a:solidFill>
              </a:rPr>
              <a:t>tanggal_review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455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Format YYYY-MM-DD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12464"/>
            <a:ext cx="1737360" cy="548640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758184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BF"/>
                </a:solidFill>
              </a:rPr>
              <a:t>bidang_keahlian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80390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1–2 bidang utama reviewer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370832"/>
            <a:ext cx="1737360" cy="548640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441655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BF"/>
                </a:solidFill>
              </a:rPr>
              <a:t>justifikasi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4622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Mengapa reviewer kompeten?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029200"/>
            <a:ext cx="1737360" cy="548640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507492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6BBF"/>
                </a:solidFill>
              </a:rPr>
              <a:t>tingkat_keyakinan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120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Expert(4) / High(3) / Medium(2) / Low(1)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143000"/>
            <a:ext cx="58978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143000"/>
            <a:ext cx="5897880" cy="457200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17043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  Rubrik Penilaian Resmi ICICoS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7190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Overall Evaluation (pilih satu):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084831"/>
            <a:ext cx="256032" cy="237744"/>
          </a:xfrm>
          <a:prstGeom prst="rect">
            <a:avLst/>
          </a:prstGeom>
          <a:noFill/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08483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Strong Accept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2404871"/>
            <a:ext cx="256032" cy="237744"/>
          </a:xfrm>
          <a:prstGeom prst="rect">
            <a:avLst/>
          </a:prstGeom>
          <a:noFill/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40487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Accept (revision req.)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2724911"/>
            <a:ext cx="256032" cy="237744"/>
          </a:xfrm>
          <a:prstGeom prst="rect">
            <a:avLst/>
          </a:prstGeom>
          <a:noFill/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72491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Weak Accept (revision req.)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044951"/>
            <a:ext cx="256032" cy="237744"/>
          </a:xfrm>
          <a:prstGeom prst="rect">
            <a:avLst/>
          </a:prstGeom>
          <a:noFill/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04495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Borderline (revision req.)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364991"/>
            <a:ext cx="256032" cy="237744"/>
          </a:xfrm>
          <a:prstGeom prst="rect">
            <a:avLst/>
          </a:prstGeom>
          <a:noFill/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36499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Weak Reject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3685031"/>
            <a:ext cx="256032" cy="237744"/>
          </a:xfrm>
          <a:prstGeom prst="rect">
            <a:avLst/>
          </a:prstGeom>
          <a:noFill/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68503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Reject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4005071"/>
            <a:ext cx="256032" cy="237744"/>
          </a:xfrm>
          <a:prstGeom prst="rect">
            <a:avLst/>
          </a:prstGeom>
          <a:noFill/>
          <a:ln w="1270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005071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4A"/>
                </a:solidFill>
              </a:rPr>
              <a:t>Strong Reject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40740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BBF"/>
                </a:solidFill>
              </a:rPr>
              <a:t>Reviewer's Confidence: Expert(4)  High(3)  Medium(2)  Low(1)  N/A(0)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48646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</a:rPr>
              <a:t>Quality of the Article (Excellent / Good / Adequate / Inadequate):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230368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Novelty / Originality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230368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Significance of Topic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5230368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Technical Quality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577840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Presentation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5577840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7A"/>
                </a:solidFill>
              </a:rPr>
              <a:t>• Literature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Bagian C — Checklist Review per Seksi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4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8C8FF"/>
                </a:solidFill>
              </a:rPr>
              <a:t>Item gagal → buat komentar di Bagian 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44168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9786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49047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Klaim ↔ hasil, angka kunci, kontribusi jelas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947672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947672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1488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0025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Introduction &amp; Motivasi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9514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Masalah jelas, kontribusi terukur, struktur dijelaskan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52344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752344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95351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80720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Related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9981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Gap eksplisit, sitasi terkini, posisi kontribusi jelas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557016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557016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758184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1188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Data &amp; Preprocessing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0448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Sumber data, atribut, preprocessing, data leakage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361688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361688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56285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41655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Metodologi &amp;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70916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Justifikasi alg., baseline, hyperparameter, validasi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166360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166360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367528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22122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Eksperimen &amp; Hasil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51383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Metrik tepat, mean±std, uji statistik, tabel/gambar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143000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1143000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344168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119786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Diskusi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1490472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Interpretasi, limitasi, ancaman validitas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1947672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1947672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2148840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2002536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Kesimpulan &amp; Future 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229514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Konsisten, tidak over-claim, future work realistis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2752344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00800" y="2752344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953512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280720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Referensi &amp; Format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309981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Sitasi lengkap, format ICICoS, batas halaman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557016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00" y="3557016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3758184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361188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Reproduksibilitas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3904488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Kode/data, seed, versi library, lingkungan eksperimen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361688"/>
            <a:ext cx="576072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4361688"/>
            <a:ext cx="658368" cy="7132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0" y="4562856"/>
            <a:ext cx="658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C.11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32320" y="441655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</a:rPr>
              <a:t>Tata Bahasa &amp; Konsistensi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0" y="470916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57A"/>
                </a:solidFill>
              </a:rPr>
              <a:t>Gramatikal, istilah konsisten, notasi, tanda baca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Bagian D — Komentar Terstruktur: Definisi Severity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8C8FF"/>
                </a:solidFill>
              </a:rPr>
              <a:t>Setiap komentar MAJOR/MINOR wajib menyebut lokasi nyata (halaman/seksi/tabel/gambar)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01168" cy="15361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1188720" cy="4023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[MAJOR]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29844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Klaim inti tidak dapat diverifikasi atau tidak valid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64208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↳ Paper TIDAK DAPAT diterima dalam kondisi ini.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02996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Contoh: Tidak ada baseline pembanding → klaim 'improving' belum terbukti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1143000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201168" cy="15361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1188720" cy="40233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10896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[MINOR]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03580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Mengurangi kejelasan/kekuatan paper, tetapi tidak membatalkan klaim inti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401568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7E22"/>
                </a:solidFill>
              </a:rPr>
              <a:t>↳ Paper masih dapat diterima jika poin ini diperbaiki.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76732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Contoh: Seed &amp; versi library tidak dilaporkan → replikasi terhambat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11430000" cy="1536192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201168" cy="15361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1188720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[SARAN]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77316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4A"/>
                </a:solidFill>
              </a:rPr>
              <a:t>Perbaikan opsional; penulis bebas mengabaikan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138928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</a:rPr>
              <a:t>↳ Tidak mempengaruhi keputusan Accept/Reject.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5504688"/>
            <a:ext cx="9509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7A"/>
                </a:solidFill>
              </a:rPr>
              <a:t>Contoh: Pertimbangkan SHAP untuk meningkatkan interpretabilitas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Bagian D — 5 Format Komentar Terstruktur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" y="1170432"/>
            <a:ext cx="21488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" y="1170432"/>
            <a:ext cx="2148840" cy="512064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" y="1225296"/>
            <a:ext cx="2002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#1  Analitis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BBF"/>
                </a:solidFill>
              </a:rPr>
              <a:t>KAPAN DIGUNAKAN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084832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</a:rPr>
              <a:t>Masalah teknis/metodologis yang memerlukan tindakan konkret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3136392"/>
            <a:ext cx="1965960" cy="27432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3236975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6BBF"/>
                </a:solidFill>
              </a:rPr>
              <a:t>STRUKTUR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354787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60273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BBF"/>
                </a:solidFill>
              </a:rPr>
              <a:t>Masalah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405079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" y="410565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BBF"/>
                </a:solidFill>
              </a:rPr>
              <a:t>Lokasi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455371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1E6B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460857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BBF"/>
                </a:solidFill>
              </a:rPr>
              <a:t>Rekomendasi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8336" y="1170432"/>
            <a:ext cx="21488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88336" y="1170432"/>
            <a:ext cx="2148840" cy="5120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1225296"/>
            <a:ext cx="2002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#2  Klarifikasi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9776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E44AD"/>
                </a:solidFill>
              </a:rPr>
              <a:t>KAPAN DIGUNAKAN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9776" y="2084832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</a:rPr>
              <a:t>Bagian ambigu — butuh penjelasan sebelum menilai validitasnya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9776" y="3136392"/>
            <a:ext cx="196596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9776" y="3236975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E44AD"/>
                </a:solidFill>
              </a:rPr>
              <a:t>STRUKTUR FIELD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9776" y="354787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25496" y="360273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Pertanyaan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79776" y="405079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25496" y="410565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</a:rPr>
              <a:t>Konteks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1170432"/>
            <a:ext cx="21488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0" y="1170432"/>
            <a:ext cx="2148840" cy="512064"/>
          </a:xfrm>
          <a:prstGeom prst="rect">
            <a:avLst/>
          </a:prstGeom>
          <a:solidFill>
            <a:srgbClr val="167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2" y="1225296"/>
            <a:ext cx="2002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#3  Posisi Literatur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7F39"/>
                </a:solidFill>
              </a:rPr>
              <a:t>KAPAN DIGUNAKAN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2084832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</a:rPr>
              <a:t>Klaim kebaruan tak didukung, sitasi hilang/usang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0" y="3136392"/>
            <a:ext cx="1965960" cy="27432"/>
          </a:xfrm>
          <a:prstGeom prst="rect">
            <a:avLst/>
          </a:prstGeom>
          <a:solidFill>
            <a:srgbClr val="167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236975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7F39"/>
                </a:solidFill>
              </a:rPr>
              <a:t>STRUKTUR FIELD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354787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167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6360" y="360273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7F39"/>
                </a:solidFill>
              </a:rPr>
              <a:t>Klaim paper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405079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167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410565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7F39"/>
                </a:solidFill>
              </a:rPr>
              <a:t>Kesenjangan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20640" y="455371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167F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460857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7F39"/>
                </a:solidFill>
              </a:rPr>
              <a:t>Rekomendasi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70064" y="1170432"/>
            <a:ext cx="21488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70064" y="1170432"/>
            <a:ext cx="2148840" cy="5120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43216" y="1225296"/>
            <a:ext cx="2002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#4  Reproduksibilitas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61504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KAPAN DIGUNAKAN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1504" y="2084832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</a:rPr>
              <a:t>Detail eksperimen tidak cukup untuk replikasi hasil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61504" y="3136392"/>
            <a:ext cx="1965960" cy="274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61504" y="3236975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STRUKTUR FIELD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61504" y="354787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360273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Elemen hilang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61504" y="405079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07224" y="410565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Dampak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61504" y="455371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07224" y="460857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</a:rPr>
              <a:t>Rekomendasi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10928" y="1170432"/>
            <a:ext cx="21488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10928" y="1170432"/>
            <a:ext cx="2148840" cy="5120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0" y="1225296"/>
            <a:ext cx="20025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#5  Apresiasi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02368" y="182880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7E22"/>
                </a:solidFill>
              </a:rPr>
              <a:t>KAPAN DIGUNAKAN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02368" y="2084832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4A"/>
                </a:solidFill>
              </a:rPr>
              <a:t>Kekuatan genuine paper — minimal 1 per review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02368" y="3136392"/>
            <a:ext cx="1965960" cy="274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02368" y="3236975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67E22"/>
                </a:solidFill>
              </a:rPr>
              <a:t>STRUKTUR FIELD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02368" y="354787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48088" y="360273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Aspek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02368" y="4050792"/>
            <a:ext cx="1965960" cy="420624"/>
          </a:xfrm>
          <a:prstGeom prst="rect">
            <a:avLst/>
          </a:prstGeom>
          <a:solidFill>
            <a:srgbClr val="D6E8FF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48088" y="4105656"/>
            <a:ext cx="1874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Alasan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Bagian E — Aturan Etika Penggunaan AI dalam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1133856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201168" cy="11155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16736"/>
            <a:ext cx="14173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16736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DILARANG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28016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Mengunggah naskah ke AI publik (mis. ChatGPT.com)
→ Naskah rahasia; pelanggaran terhadap etika COPE &amp; IEEE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32304"/>
            <a:ext cx="1133856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32304"/>
            <a:ext cx="201168" cy="11155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578608"/>
            <a:ext cx="14173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DILARANG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542032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Mendelegasikan keputusan akhir ke AI
→ Rekomendasi Accept/Reject = tanggung jawab eksklusif reviewer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94176"/>
            <a:ext cx="1133856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694176"/>
            <a:ext cx="201168" cy="11155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840480"/>
            <a:ext cx="141732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DILARANG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03904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Mengklaim kelemahan yang tidak ada dalam naskah (halusinasi AI)
→ Setiap komentar harus dapat ditelusuri ke lokasi nyata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56048"/>
            <a:ext cx="11338560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56048"/>
            <a:ext cx="201168" cy="111556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102352"/>
            <a:ext cx="1417320" cy="3657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0235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DIIZINKAN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65776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4A"/>
                </a:solidFill>
              </a:rPr>
              <a:t>AI sebagai asisten bahasa, penstruktur checklist, dan brainstorming
→ Reviewer wajib memverifikasi setiap poin terhadap isi paper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E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Selaras dengan: COPE Ethical Guidelines for Peer Reviewers (2017)  ·  IEEE PSPB Operations Manual  ·  ACM Policy on Authorship and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