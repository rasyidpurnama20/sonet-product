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44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59" y="685799"/>
            <a:ext cx="8046720" cy="25609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BIRD SOUND</a:t>
            </a:r>
            <a:endParaRPr lang="en-US" sz="6000" dirty="0"/>
          </a:p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7512" y="6097395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22D3EE"/>
                </a:solidFill>
              </a:rPr>
              <a:t>Pengenalan</a:t>
            </a:r>
            <a:r>
              <a:rPr lang="en-US" sz="1100" b="1" dirty="0">
                <a:solidFill>
                  <a:srgbClr val="22D3EE"/>
                </a:solidFill>
              </a:rPr>
              <a:t> Pola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67511" y="3535149"/>
            <a:ext cx="5647025" cy="1554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dirty="0">
                <a:solidFill>
                  <a:schemeClr val="bg1"/>
                </a:solidFill>
              </a:rPr>
              <a:t>Adrian Asarel Deandra Kristiawan 	- 24060123120030</a:t>
            </a:r>
            <a:endParaRPr lang="en-ID" sz="1400" dirty="0">
              <a:solidFill>
                <a:schemeClr val="bg1"/>
              </a:solidFill>
            </a:endParaRPr>
          </a:p>
          <a:p>
            <a:r>
              <a:rPr lang="en-ID" dirty="0">
                <a:solidFill>
                  <a:schemeClr val="bg1"/>
                </a:solidFill>
              </a:rPr>
              <a:t>Arib Taufiqurrohman 		- 24060123130093</a:t>
            </a:r>
          </a:p>
          <a:p>
            <a:r>
              <a:rPr lang="en-ID" dirty="0">
                <a:solidFill>
                  <a:schemeClr val="bg1"/>
                </a:solidFill>
              </a:rPr>
              <a:t>Patriot Antaras </a:t>
            </a:r>
            <a:r>
              <a:rPr lang="en-ID" dirty="0" err="1">
                <a:solidFill>
                  <a:schemeClr val="bg1"/>
                </a:solidFill>
              </a:rPr>
              <a:t>Bangsa</a:t>
            </a:r>
            <a:r>
              <a:rPr lang="en-ID" dirty="0">
                <a:solidFill>
                  <a:schemeClr val="bg1"/>
                </a:solidFill>
              </a:rPr>
              <a:t> 		- 24060123130100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DESAIN SISTEM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RECOGNITION DESIGN CYCLE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228" y="246888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39748" y="2843785"/>
            <a:ext cx="566928" cy="5669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9748" y="2980945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6828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Pengumpulan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9396" y="41148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CBD5E1"/>
                </a:solidFill>
              </a:rPr>
              <a:t>110 sampel audio .ogg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CBD5E1"/>
                </a:solidFill>
              </a:rPr>
              <a:t>5 kategori spesies burung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2921076" y="3410712"/>
            <a:ext cx="438912" cy="32004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7148" y="246888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88104" y="2788920"/>
            <a:ext cx="566928" cy="566928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8104" y="292608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25748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Pra-pemrosesan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98316" y="41148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CBD5E1"/>
                </a:solidFill>
              </a:rPr>
              <a:t>Durasi distandarkan 5 detik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CBD5E1"/>
                </a:solidFill>
              </a:rPr>
              <a:t>Sampling rate 22.05 kHz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709996" y="3410712"/>
            <a:ext cx="438912" cy="32004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6068" y="246888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90740" y="2846544"/>
            <a:ext cx="566928" cy="5669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90740" y="298370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4668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Ekstraksi Fitur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87236" y="41148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CBD5E1"/>
                </a:solidFill>
              </a:rPr>
              <a:t>Mean F0, MFCC-PC1,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CBD5E1"/>
                </a:solidFill>
              </a:rPr>
              <a:t>Mel Energy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498916" y="3410712"/>
            <a:ext cx="438912" cy="32004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74988" y="246888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06508" y="2862072"/>
            <a:ext cx="566928" cy="5669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06508" y="299923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03588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Evaluasi Model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6156" y="41148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CBD5E1"/>
                </a:solidFill>
              </a:rPr>
              <a:t>Random Forest, confusion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CBD5E1"/>
                </a:solidFill>
              </a:rPr>
              <a:t>matrix, F1, ROC-AUC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DEFINITION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Definisi</a:t>
            </a: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300" b="1" dirty="0" err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Masalah</a:t>
            </a: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&amp; Tujuan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27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Masalah spesifik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084832"/>
            <a:ext cx="443484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CBD5E1"/>
                </a:solidFill>
              </a:rPr>
              <a:t>Identifikasi spesies burung dari vokalisasi sulit karena variasi pitch, timbre, energi, serta noise lingkungan pada rekaman alam.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685800" y="356616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858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Tujuan klasifikasi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4315968"/>
            <a:ext cx="4434840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Membangun pipeline otomatis untuk 5 kelas burung.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Mengoptimalkan 3 fitur utama agar model tetap efisien.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Menguji separasi kelas melalui feature space dan metrik evaluasi.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6400800" y="2670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Dataset metadata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73368" y="3200400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0528" y="3310128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</a:rPr>
              <a:t>110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83096" y="3666744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total file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44968" y="3200400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82128" y="3310128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54696" y="3666744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kelas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16568" y="3200400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53728" y="3310128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</a:rPr>
              <a:t>5s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26296" y="3666744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durasi fixed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488168" y="3200400"/>
            <a:ext cx="749808" cy="786384"/>
          </a:xfrm>
          <a:prstGeom prst="roundRect">
            <a:avLst>
              <a:gd name="adj" fmla="val 9756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625328" y="3310128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.ogg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97896" y="36667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format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SPECIFICATION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Spesifikasi</a:t>
            </a: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300" b="1" dirty="0" err="1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Tipe</a:t>
            </a: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Data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27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Input audio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65176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Sinyal audio satu dimensi: amplitudo terhadap waktu.</a:t>
            </a:r>
            <a:endParaRPr lang="en-US" sz="1360" dirty="0"/>
          </a:p>
          <a:p>
            <a:pPr marL="152400" indent="-152400">
              <a:buSzPct val="100000"/>
              <a:buChar char="•"/>
            </a:pPr>
            <a:r>
              <a:rPr lang="en-US" sz="13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file .ogg dari rekaman burung.</a:t>
            </a:r>
            <a:endParaRPr lang="en-US" sz="1360" dirty="0"/>
          </a:p>
          <a:p>
            <a:pPr marL="152400" indent="-152400">
              <a:buSzPct val="100000"/>
              <a:buChar char="•"/>
            </a:pPr>
            <a:r>
              <a:rPr lang="en-US" sz="13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sampel dipotong/di-pad menjadi 5 detik.</a:t>
            </a:r>
            <a:endParaRPr lang="en-US" sz="1360" dirty="0"/>
          </a:p>
        </p:txBody>
      </p:sp>
      <p:sp>
        <p:nvSpPr>
          <p:cNvPr id="8" name="Shape 6"/>
          <p:cNvSpPr/>
          <p:nvPr/>
        </p:nvSpPr>
        <p:spPr>
          <a:xfrm>
            <a:off x="932688" y="4425696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9848" y="453542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</a:rPr>
              <a:t>22.05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42416" y="489204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kHz sampling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31720" y="4425696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453542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</a:rPr>
              <a:t>1D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41448" y="489204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time series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34840" y="1298448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90872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Representasi frekuensi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90872" y="2148840"/>
            <a:ext cx="2651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diubah ke domain frekuensi untuk menangkap pitch dan pola spektral.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Mel-spectrogram memakai skala perseptual yang lebih dekat dengan pendengaran biologis.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MFCC merangkum warna suara/timbre.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4727448" y="4425696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4608" y="453542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</a:rPr>
              <a:t>64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37176" y="489204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Mel bands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4425696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453542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</a:rPr>
              <a:t>13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36208" y="489204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MFCC coeff.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11312" y="1298448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67344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Output fitur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67344" y="2148840"/>
            <a:ext cx="26517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F0: nada dasar rata-rata pada voiced frames.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MFCC-PC1: kompresi 13 koefisien ke 1 komponen utama.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 Energy: log total energi pada band Mel.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8503920" y="4425696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41080" y="453542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13648" y="489204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fitur final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902952" y="4425696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40112" y="453542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</a:rPr>
              <a:t>Z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012680" y="4892040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scaled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dan desain eksperimen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53312"/>
            <a:ext cx="3429000" cy="4389120"/>
          </a:xfrm>
          <a:prstGeom prst="roundRect">
            <a:avLst>
              <a:gd name="adj" fmla="val 2133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276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Input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83464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 file audio burung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.ogg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Durasi standar 5 detik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rate 22.05 kHz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353312"/>
            <a:ext cx="3429000" cy="4389120"/>
          </a:xfrm>
          <a:prstGeom prst="roundRect">
            <a:avLst>
              <a:gd name="adj" fmla="val 2133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6276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Split &amp; model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63440" y="2148840"/>
            <a:ext cx="283464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Train/test stratified: 88/22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5-fold cross validation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300 estimators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Bandingkan RF, SVM, GNB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0" y="1353312"/>
            <a:ext cx="3337560" cy="4389120"/>
          </a:xfrm>
          <a:prstGeom prst="roundRect">
            <a:avLst>
              <a:gd name="adj" fmla="val 2192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16276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Kelas tidak seimbang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85632" y="2148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K0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167128"/>
            <a:ext cx="694944" cy="146304"/>
          </a:xfrm>
          <a:prstGeom prst="rect">
            <a:avLst/>
          </a:prstGeom>
          <a:solidFill>
            <a:srgbClr val="60A5FA">
              <a:alpha val="92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27080" y="21488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18 file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85632" y="25694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</a:rPr>
              <a:t>K1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2587752"/>
            <a:ext cx="1737360" cy="146304"/>
          </a:xfrm>
          <a:prstGeom prst="rect">
            <a:avLst/>
          </a:prstGeom>
          <a:solidFill>
            <a:srgbClr val="F87171">
              <a:alpha val="92000"/>
            </a:srgbClr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7080" y="25694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45 file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85632" y="2990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K2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52560" y="3008376"/>
            <a:ext cx="386080" cy="146304"/>
          </a:xfrm>
          <a:prstGeom prst="rect">
            <a:avLst/>
          </a:prstGeom>
          <a:solidFill>
            <a:srgbClr val="34D399">
              <a:alpha val="92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27080" y="2990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10 file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85632" y="34107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K3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52560" y="3429000"/>
            <a:ext cx="193040" cy="146304"/>
          </a:xfrm>
          <a:prstGeom prst="rect">
            <a:avLst/>
          </a:prstGeom>
          <a:solidFill>
            <a:srgbClr val="FBBF24">
              <a:alpha val="92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27080" y="34107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5 file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85632" y="38313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</a:rPr>
              <a:t>K4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52560" y="3849624"/>
            <a:ext cx="1235456" cy="146304"/>
          </a:xfrm>
          <a:prstGeom prst="rect">
            <a:avLst/>
          </a:prstGeom>
          <a:solidFill>
            <a:srgbClr val="C084FC">
              <a:alpha val="92000"/>
            </a:srgbClr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27080" y="38313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32 file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58200" y="5074920"/>
            <a:ext cx="2606040" cy="329184"/>
          </a:xfrm>
          <a:prstGeom prst="roundRect">
            <a:avLst>
              <a:gd name="adj" fmla="val 22222"/>
            </a:avLst>
          </a:prstGeom>
          <a:solidFill>
            <a:srgbClr val="FBBF24">
              <a:alpha val="9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67928" y="5157216"/>
            <a:ext cx="2386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220"/>
                </a:solidFill>
              </a:rPr>
              <a:t>Catatan: kelas K3 hanya 5 file → evaluasi test sangat sensitif.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OUTPUT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ekstraksi fitur optimal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43584"/>
            <a:ext cx="11018520" cy="420624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notebook_outputs/cell34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31325"/>
            <a:ext cx="10872216" cy="4030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779008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CBD5E1"/>
                </a:solidFill>
              </a:rPr>
              <a:t>audio mentah diproses menjadi tiga sinyal ringkas yang saling melengkapi sebelum masuk ke model klasifikasi.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tiga fitur ini dipilih?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notebook_outputs/cell31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75" y="1490472"/>
            <a:ext cx="4565611" cy="2002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41732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17190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Complementarity of features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55080" y="2377440"/>
            <a:ext cx="411480" cy="4114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8232" y="247802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220"/>
                </a:solidFill>
              </a:rPr>
              <a:t>F1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49440" y="2368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Mean F0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595360" y="23957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Pitch / nada dasar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3136392"/>
            <a:ext cx="411480" cy="4114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8232" y="323697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220"/>
                </a:solidFill>
              </a:rPr>
              <a:t>F2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949440" y="31272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MFCC-PC1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595360" y="31546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Timbre / warna suara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55080" y="3895344"/>
            <a:ext cx="411480" cy="4114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28232" y="399592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220"/>
                </a:solidFill>
              </a:rPr>
              <a:t>F3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949440" y="3886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</a:rPr>
              <a:t>Mel Energy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595360" y="391363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Kepadatan energi vokalisasi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355080" y="4892040"/>
            <a:ext cx="44805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</a:rPr>
              <a:t>Feature importance RF relatif seimbang: tidak ada satu fitur yang dominan ekstrem. Ini mendukung gagasan bahwa ketiganya membawa informasi berbeda.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85800" y="4005072"/>
            <a:ext cx="4937760" cy="1938528"/>
          </a:xfrm>
          <a:prstGeom prst="roundRect">
            <a:avLst>
              <a:gd name="adj" fmla="val 3774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60120" y="4315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Prinsip desain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60120" y="4690872"/>
            <a:ext cx="4251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concept overlap: pitch, timbre, dan energy tidak mengukur hal yang sama.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Satuan berbeda dinormalisasi dengan Z-score sebelum training.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Fitur 1 — Mean F0 dari pitch tracking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25296"/>
            <a:ext cx="7498080" cy="5257800"/>
          </a:xfrm>
          <a:prstGeom prst="roundRect">
            <a:avLst>
              <a:gd name="adj" fmla="val 1391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f0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811" y="1298448"/>
            <a:ext cx="5532297" cy="51114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75320" y="1261872"/>
            <a:ext cx="3246120" cy="5166360"/>
          </a:xfrm>
          <a:prstGeom prst="roundRect">
            <a:avLst>
              <a:gd name="adj" fmla="val 2254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49640" y="1618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Insight F0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49640" y="2121408"/>
            <a:ext cx="25603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YIN mendeteksi voiced frames dan menghitung rata-rata F0.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Sampel K0 memiliki pitch sangat tinggi, sedangkan K1 cenderung lebih rendah.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 F0 tetap ada; RF dipilih karena relatif robust terhadap pola non-linear.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577072" y="4892040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714232" y="500176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</a:rPr>
              <a:t>F1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86800" y="535838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Mean F0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921240" y="4892040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058400" y="500176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</a:rPr>
              <a:t>Hz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030968" y="535838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satuan awal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Fitur 2 — MFCC 13D direduksi menjadi PC1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61872"/>
            <a:ext cx="11018520" cy="3246120"/>
          </a:xfrm>
          <a:prstGeom prst="roundRect">
            <a:avLst>
              <a:gd name="adj" fmla="val 2254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mfcc_pca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36926"/>
            <a:ext cx="10872216" cy="28960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4828032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50474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Reduksi 13 → 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5376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PC1 mewakili arah variasi timbre terbesar dari 13 koefisien MFCC.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4828032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50474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Kompresi tinggi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709160" y="5376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Notebook mencatat kompresi fitur ±92% untuk cabang MFCC.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83880" y="4828032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12480" y="50474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Pemisah timbre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412480" y="53766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Berguna untuk membedakan tekstur suara yang tidak tertangkap oleh pitch saja.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Fitur 3 — Mel spectral energy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25296"/>
            <a:ext cx="7589520" cy="5257800"/>
          </a:xfrm>
          <a:prstGeom prst="roundRect">
            <a:avLst>
              <a:gd name="adj" fmla="val 1391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mel_energy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079" y="1298448"/>
            <a:ext cx="5529203" cy="51114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02752" y="1261872"/>
            <a:ext cx="3246120" cy="5166360"/>
          </a:xfrm>
          <a:prstGeom prst="roundRect">
            <a:avLst>
              <a:gd name="adj" fmla="val 2254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4964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Dari spectrogram ke angka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49640" y="2359152"/>
            <a:ext cx="25603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 dihitung pada 64 band Mel lalu diringkas ke satu nilai log-energy.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Kelas 2–4 cenderung memiliki energi Mel lebih tinggi pada contoh notebook.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Fitur ini melengkapi F0 dan MFCC karena menangkap intensitas vokalisasi.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577072" y="5074920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714232" y="5184648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</a:rPr>
              <a:t>64→1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86800" y="5541264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Mel bands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966960" y="5074920"/>
            <a:ext cx="11430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104120" y="5184648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</a:rPr>
              <a:t>dB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076688" y="5541264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log scale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SPACE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Separabilitas awal antar kelas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34440"/>
            <a:ext cx="662940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notebook_outputs/cell17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9150"/>
            <a:ext cx="6483096" cy="21537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88352" y="1234440"/>
            <a:ext cx="416052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1" descr="/mnt/data/notebook_outputs/cell17_out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810" y="1307592"/>
            <a:ext cx="2813605" cy="259689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4370832"/>
            <a:ext cx="1046988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1097280" y="4663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8FAFC"/>
                </a:solidFill>
              </a:rPr>
              <a:t>Penjelasan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291840" y="4617720"/>
            <a:ext cx="74066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Distribusi fitur masih memiliki overlap antarkelas, terutama untuk kelas minoritas.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Separasi lebih jelas ketika tiga fitur dilihat bersama dalam ruang 3D, bukan per fitur saja.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SPACE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space 3D: Mean F0 × MFCC-PC1 × Mel Energy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1120140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3d_feature_space_opti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281745"/>
            <a:ext cx="11055096" cy="36452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5285232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54864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Cluster terlihat, tetapi tidak sempurna.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34840" y="5285232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440" y="54864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K1 dominan secara jumlah sampel.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138160" y="5285232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66760" y="54864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</a:rPr>
              <a:t>Overlap K2/K3/K4 menjelaskan error.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BEHAVIOR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boundary pada proyeksi fitur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61872"/>
            <a:ext cx="11137392" cy="3401568"/>
          </a:xfrm>
          <a:prstGeom prst="roundRect">
            <a:avLst>
              <a:gd name="adj" fmla="val 2151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notebook_outputs/cell24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54931"/>
            <a:ext cx="10991088" cy="321544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5029200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51560" y="52669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rgbClr val="CBD5E1"/>
                </a:solidFill>
              </a:rPr>
              <a:t>Tiga proyeksi 2D memperlihatkan bahwa Random Forest membentuk region non-linear, namun batas kelas masih saling bersinggungan karena feature space belum sepenuhnya terpisah.</a:t>
            </a:r>
            <a:endParaRPr lang="en-US" sz="136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Perbandingan model pada 3 fitur optimal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notebook_outputs/cell29_out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488965"/>
            <a:ext cx="5385816" cy="24170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325880"/>
            <a:ext cx="4663440" cy="4526280"/>
          </a:xfrm>
          <a:prstGeom prst="roundRect">
            <a:avLst>
              <a:gd name="adj" fmla="val 1616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03720" y="1627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</a:rPr>
              <a:t>Hasil test set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903720" y="2249424"/>
            <a:ext cx="123444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40880" y="2359152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</a:rPr>
              <a:t>0.50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013448" y="2715768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RF accuracy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366760" y="2249424"/>
            <a:ext cx="123444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03920" y="2359152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7171"/>
                </a:solidFill>
              </a:rPr>
              <a:t>0.245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476488" y="2715768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RF F1 macro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829800" y="2249424"/>
            <a:ext cx="123444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966960" y="2359152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</a:rPr>
              <a:t>0.756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939528" y="2715768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</a:rPr>
              <a:t>RF AUC macro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903720" y="3502152"/>
            <a:ext cx="39319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menjadi baseline terbaik dari tiga model.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Kinerja F1 rendah karena kelas kecil sulit diprediksi.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 lebih baik dari F1 karena probabilitas masih membawa sinyal diskriminatif.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7360920" y="5230368"/>
            <a:ext cx="3337560" cy="329184"/>
          </a:xfrm>
          <a:prstGeom prst="roundRect">
            <a:avLst>
              <a:gd name="adj" fmla="val 22222"/>
            </a:avLst>
          </a:prstGeom>
          <a:solidFill>
            <a:srgbClr val="22D3EE">
              <a:alpha val="9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70648" y="5312664"/>
            <a:ext cx="3118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220"/>
                </a:solidFill>
              </a:rPr>
              <a:t>Interpretasi: fitur menjanjikan, model belum final.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 — Random Forest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confusion_matrix_opti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786815"/>
            <a:ext cx="6574536" cy="30557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234440"/>
            <a:ext cx="3840480" cy="4160520"/>
          </a:xfrm>
          <a:prstGeom prst="roundRect">
            <a:avLst>
              <a:gd name="adj" fmla="val 1905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536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Apa yang terjadi?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909560" y="2057400"/>
            <a:ext cx="30632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banyak memprediksi K1 dan K4.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K0, K2, dan K3 sulit dikenali pada test split ini.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Kelas minoritas membuat recall rentan turun tajam.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 memperkuat alasan untuk data augmentation dan balancing.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7909560" y="473659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</a:rPr>
              <a:t>Test set: 22 sampel • 5 kelas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ROC-AUC multiclass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07008"/>
            <a:ext cx="7955280" cy="420624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8890">
            <a:solidFill>
              <a:srgbClr val="E2E8F0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roc_opti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45805"/>
            <a:ext cx="7808976" cy="33286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15400" y="1207008"/>
            <a:ext cx="2743200" cy="4206240"/>
          </a:xfrm>
          <a:prstGeom prst="roundRect">
            <a:avLst>
              <a:gd name="adj" fmla="val 2857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89720" y="15179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AUC per kelas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281160" y="2039112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</a:rPr>
              <a:t>K0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966960" y="2048256"/>
            <a:ext cx="685800" cy="118872"/>
          </a:xfrm>
          <a:prstGeom prst="rect">
            <a:avLst/>
          </a:prstGeom>
          <a:solidFill>
            <a:srgbClr val="60A5FA">
              <a:alpha val="9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61096" y="2039112"/>
            <a:ext cx="414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</a:rPr>
              <a:t>0.625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281160" y="2478024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</a:rPr>
              <a:t>K1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966960" y="2487168"/>
            <a:ext cx="835030" cy="118872"/>
          </a:xfrm>
          <a:prstGeom prst="rect">
            <a:avLst/>
          </a:prstGeom>
          <a:solidFill>
            <a:srgbClr val="F87171">
              <a:alpha val="95000"/>
            </a:srgbClr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61096" y="2478024"/>
            <a:ext cx="41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</a:rPr>
              <a:t>0.761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281160" y="2916936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</a:rPr>
              <a:t>K2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966960" y="2926080"/>
            <a:ext cx="589239" cy="118872"/>
          </a:xfrm>
          <a:prstGeom prst="rect">
            <a:avLst/>
          </a:prstGeom>
          <a:solidFill>
            <a:srgbClr val="34D399">
              <a:alpha val="95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61096" y="2916936"/>
            <a:ext cx="414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</a:rPr>
              <a:t>0.537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281160" y="3355848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</a:rPr>
              <a:t>K3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966960" y="3364992"/>
            <a:ext cx="1044611" cy="118872"/>
          </a:xfrm>
          <a:prstGeom prst="rect">
            <a:avLst/>
          </a:prstGeom>
          <a:solidFill>
            <a:srgbClr val="FBBF24">
              <a:alpha val="9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61096" y="3355848"/>
            <a:ext cx="414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</a:rPr>
              <a:t>0.952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281160" y="3794760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84FC"/>
                </a:solidFill>
              </a:rPr>
              <a:t>K4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966960" y="3803904"/>
            <a:ext cx="994136" cy="118872"/>
          </a:xfrm>
          <a:prstGeom prst="rect">
            <a:avLst/>
          </a:prstGeom>
          <a:solidFill>
            <a:srgbClr val="C084FC">
              <a:alpha val="95000"/>
            </a:srgbClr>
          </a:solidFill>
          <a:ln w="12700">
            <a:solidFill>
              <a:srgbClr val="C084F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011571" y="3794760"/>
            <a:ext cx="36356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</a:rPr>
              <a:t>0.906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281160" y="4233672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2E90"/>
                </a:solidFill>
              </a:rPr>
              <a:t>Macro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966960" y="4242816"/>
            <a:ext cx="844906" cy="118872"/>
          </a:xfrm>
          <a:prstGeom prst="rect">
            <a:avLst/>
          </a:prstGeom>
          <a:solidFill>
            <a:srgbClr val="2E2E90">
              <a:alpha val="95000"/>
            </a:srgbClr>
          </a:solidFill>
          <a:ln w="12700">
            <a:solidFill>
              <a:srgbClr val="2E2E9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064240" y="4233672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BD5E1"/>
                </a:solidFill>
              </a:rPr>
              <a:t>0.770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189720" y="48828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AUC cukup informatif, tetapi F1 tetap rendah pada kelas dengan support kecil.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0292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Optimal 3 Features: Mean F0 · MFCC-PC1 · Mel Energy</a:t>
            </a:r>
            <a:endParaRPr lang="en-US" sz="7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889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53312"/>
            <a:ext cx="10515600" cy="4434840"/>
          </a:xfrm>
          <a:prstGeom prst="roundRect">
            <a:avLst>
              <a:gd name="adj" fmla="val 1649"/>
            </a:avLst>
          </a:prstGeom>
          <a:solidFill>
            <a:srgbClr val="172033"/>
          </a:solidFill>
          <a:ln w="8890">
            <a:solidFill>
              <a:srgbClr val="334155">
                <a:alpha val="9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6" name="Text 4"/>
          <p:cNvSpPr/>
          <p:nvPr/>
        </p:nvSpPr>
        <p:spPr>
          <a:xfrm>
            <a:off x="1051560" y="1700784"/>
            <a:ext cx="3108960" cy="28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Insight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539211"/>
            <a:ext cx="9784081" cy="18897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 algn="just">
              <a:buSzPct val="100000"/>
              <a:buChar char="•"/>
            </a:pPr>
            <a:r>
              <a:rPr lang="en-ID" sz="2800" dirty="0" err="1">
                <a:solidFill>
                  <a:schemeClr val="bg1"/>
                </a:solidFill>
              </a:rPr>
              <a:t>Kombinasi</a:t>
            </a:r>
            <a:r>
              <a:rPr lang="en-ID" sz="2800" dirty="0">
                <a:solidFill>
                  <a:schemeClr val="bg1"/>
                </a:solidFill>
              </a:rPr>
              <a:t> Pitch (F0) dan Timbre (MFCC-PCA) </a:t>
            </a:r>
            <a:r>
              <a:rPr lang="en-ID" sz="2800" dirty="0" err="1">
                <a:solidFill>
                  <a:schemeClr val="bg1"/>
                </a:solidFill>
              </a:rPr>
              <a:t>adalah</a:t>
            </a:r>
            <a:r>
              <a:rPr lang="en-ID" sz="2800" dirty="0">
                <a:solidFill>
                  <a:schemeClr val="bg1"/>
                </a:solidFill>
              </a:rPr>
              <a:t> </a:t>
            </a:r>
            <a:r>
              <a:rPr lang="en-ID" sz="2800" dirty="0" err="1">
                <a:solidFill>
                  <a:schemeClr val="bg1"/>
                </a:solidFill>
              </a:rPr>
              <a:t>pasangan</a:t>
            </a:r>
            <a:r>
              <a:rPr lang="en-ID" sz="2800" dirty="0">
                <a:solidFill>
                  <a:schemeClr val="bg1"/>
                </a:solidFill>
              </a:rPr>
              <a:t> paling </a:t>
            </a:r>
            <a:r>
              <a:rPr lang="en-ID" sz="2800" dirty="0" err="1">
                <a:solidFill>
                  <a:schemeClr val="bg1"/>
                </a:solidFill>
              </a:rPr>
              <a:t>kuat</a:t>
            </a:r>
            <a:r>
              <a:rPr lang="en-ID" sz="2800" dirty="0">
                <a:solidFill>
                  <a:schemeClr val="bg1"/>
                </a:solidFill>
              </a:rPr>
              <a:t> </a:t>
            </a:r>
            <a:r>
              <a:rPr lang="en-ID" sz="2800" dirty="0" err="1">
                <a:solidFill>
                  <a:schemeClr val="bg1"/>
                </a:solidFill>
              </a:rPr>
              <a:t>untuk</a:t>
            </a:r>
            <a:r>
              <a:rPr lang="en-ID" sz="2800" dirty="0">
                <a:solidFill>
                  <a:schemeClr val="bg1"/>
                </a:solidFill>
              </a:rPr>
              <a:t> </a:t>
            </a:r>
            <a:r>
              <a:rPr lang="en-ID" sz="2800" dirty="0" err="1">
                <a:solidFill>
                  <a:schemeClr val="bg1"/>
                </a:solidFill>
              </a:rPr>
              <a:t>identifikasi</a:t>
            </a:r>
            <a:r>
              <a:rPr lang="en-ID" sz="2800" dirty="0">
                <a:solidFill>
                  <a:schemeClr val="bg1"/>
                </a:solidFill>
              </a:rPr>
              <a:t> </a:t>
            </a:r>
            <a:r>
              <a:rPr lang="en-ID" sz="2800" dirty="0" err="1">
                <a:solidFill>
                  <a:schemeClr val="bg1"/>
                </a:solidFill>
              </a:rPr>
              <a:t>suara</a:t>
            </a:r>
            <a:r>
              <a:rPr lang="en-ID" sz="2800" dirty="0">
                <a:solidFill>
                  <a:schemeClr val="bg1"/>
                </a:solidFill>
              </a:rPr>
              <a:t> fauna </a:t>
            </a:r>
            <a:r>
              <a:rPr lang="en-ID" sz="2800" dirty="0" err="1">
                <a:solidFill>
                  <a:schemeClr val="bg1"/>
                </a:solidFill>
              </a:rPr>
              <a:t>biologis</a:t>
            </a:r>
            <a:r>
              <a:rPr lang="en-ID" sz="2800" dirty="0">
                <a:solidFill>
                  <a:schemeClr val="bg1"/>
                </a:solidFill>
              </a:rPr>
              <a:t>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35608" y="6135624"/>
            <a:ext cx="9290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220"/>
                </a:solidFill>
              </a:rPr>
              <a:t>Final message: pipeline fitur sudah kuat sebagai baseline riset; performa model perlu validasi lanjutan.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8872ED8-E269-8F5E-3DD1-61692907A5F8}"/>
              </a:ext>
            </a:extLst>
          </p:cNvPr>
          <p:cNvSpPr/>
          <p:nvPr/>
        </p:nvSpPr>
        <p:spPr>
          <a:xfrm>
            <a:off x="1051560" y="3429000"/>
            <a:ext cx="3108960" cy="28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8FAFC"/>
                </a:solidFill>
              </a:rPr>
              <a:t>Keterbatasan</a:t>
            </a:r>
            <a:endParaRPr lang="en-US" sz="22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D82C31FD-BA37-74EE-2A23-21A5481A6C5D}"/>
              </a:ext>
            </a:extLst>
          </p:cNvPr>
          <p:cNvSpPr/>
          <p:nvPr/>
        </p:nvSpPr>
        <p:spPr>
          <a:xfrm>
            <a:off x="1051559" y="3267427"/>
            <a:ext cx="9784081" cy="223726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 algn="just">
              <a:buSzPct val="100000"/>
              <a:buChar char="•"/>
            </a:pPr>
            <a:endParaRPr lang="en-ID" sz="2800" dirty="0">
              <a:solidFill>
                <a:schemeClr val="bg1"/>
              </a:solidFill>
            </a:endParaRPr>
          </a:p>
          <a:p>
            <a:pPr marL="152400" indent="-152400" algn="just">
              <a:buSzPct val="100000"/>
              <a:buChar char="•"/>
            </a:pPr>
            <a:r>
              <a:rPr lang="en-ID" sz="2800" dirty="0" err="1">
                <a:solidFill>
                  <a:schemeClr val="bg1"/>
                </a:solidFill>
              </a:rPr>
              <a:t>Ukuran</a:t>
            </a:r>
            <a:r>
              <a:rPr lang="en-ID" sz="2800" dirty="0">
                <a:solidFill>
                  <a:schemeClr val="bg1"/>
                </a:solidFill>
              </a:rPr>
              <a:t> dataset (110 </a:t>
            </a:r>
            <a:r>
              <a:rPr lang="en-ID" sz="2800" dirty="0" err="1">
                <a:solidFill>
                  <a:schemeClr val="bg1"/>
                </a:solidFill>
              </a:rPr>
              <a:t>sampel</a:t>
            </a:r>
            <a:r>
              <a:rPr lang="en-ID" sz="2800" dirty="0">
                <a:solidFill>
                  <a:schemeClr val="bg1"/>
                </a:solidFill>
              </a:rPr>
              <a:t>) </a:t>
            </a:r>
            <a:r>
              <a:rPr lang="en-ID" sz="2800" dirty="0" err="1">
                <a:solidFill>
                  <a:schemeClr val="bg1"/>
                </a:solidFill>
              </a:rPr>
              <a:t>masih</a:t>
            </a:r>
            <a:r>
              <a:rPr lang="en-ID" sz="2800" dirty="0">
                <a:solidFill>
                  <a:schemeClr val="bg1"/>
                </a:solidFill>
              </a:rPr>
              <a:t> </a:t>
            </a:r>
            <a:r>
              <a:rPr lang="en-ID" sz="2800" dirty="0" err="1">
                <a:solidFill>
                  <a:schemeClr val="bg1"/>
                </a:solidFill>
              </a:rPr>
              <a:t>rentan</a:t>
            </a:r>
            <a:r>
              <a:rPr lang="en-ID" sz="2800" dirty="0">
                <a:solidFill>
                  <a:schemeClr val="bg1"/>
                </a:solidFill>
              </a:rPr>
              <a:t> </a:t>
            </a:r>
            <a:r>
              <a:rPr lang="en-ID" sz="2800" dirty="0" err="1">
                <a:solidFill>
                  <a:schemeClr val="bg1"/>
                </a:solidFill>
              </a:rPr>
              <a:t>terhadap</a:t>
            </a:r>
            <a:r>
              <a:rPr lang="en-ID" sz="2800" dirty="0">
                <a:solidFill>
                  <a:schemeClr val="bg1"/>
                </a:solidFill>
              </a:rPr>
              <a:t> </a:t>
            </a:r>
            <a:r>
              <a:rPr lang="en-ID" sz="2800" dirty="0" err="1">
                <a:solidFill>
                  <a:schemeClr val="bg1"/>
                </a:solidFill>
              </a:rPr>
              <a:t>variasi</a:t>
            </a:r>
            <a:r>
              <a:rPr lang="en-ID" sz="2800" dirty="0">
                <a:solidFill>
                  <a:schemeClr val="bg1"/>
                </a:solidFill>
              </a:rPr>
              <a:t> </a:t>
            </a:r>
            <a:r>
              <a:rPr lang="en-ID" sz="2800" dirty="0" err="1">
                <a:solidFill>
                  <a:schemeClr val="bg1"/>
                </a:solidFill>
              </a:rPr>
              <a:t>lingkungan</a:t>
            </a:r>
            <a:r>
              <a:rPr lang="en-ID" sz="2800" dirty="0">
                <a:solidFill>
                  <a:schemeClr val="bg1"/>
                </a:solidFill>
              </a:rPr>
              <a:t> yang </a:t>
            </a:r>
            <a:r>
              <a:rPr lang="en-ID" sz="2800" dirty="0" err="1">
                <a:solidFill>
                  <a:schemeClr val="bg1"/>
                </a:solidFill>
              </a:rPr>
              <a:t>ekstrem</a:t>
            </a:r>
            <a:r>
              <a:rPr lang="en-ID" sz="2800" dirty="0">
                <a:solidFill>
                  <a:schemeClr val="bg1"/>
                </a:solidFill>
              </a:rPr>
              <a:t>.</a:t>
            </a:r>
          </a:p>
          <a:p>
            <a:pPr marL="152400" indent="-152400" algn="just">
              <a:buSzPct val="100000"/>
              <a:buChar char="•"/>
            </a:pPr>
            <a:r>
              <a:rPr lang="en-US" sz="2800" dirty="0" err="1">
                <a:solidFill>
                  <a:schemeClr val="bg1"/>
                </a:solidFill>
              </a:rPr>
              <a:t>Normalisasi</a:t>
            </a:r>
            <a:r>
              <a:rPr lang="en-US" sz="2800" dirty="0">
                <a:solidFill>
                  <a:schemeClr val="bg1"/>
                </a:solidFill>
              </a:rPr>
              <a:t> PCA sangat </a:t>
            </a:r>
            <a:r>
              <a:rPr lang="en-US" sz="2800" dirty="0" err="1">
                <a:solidFill>
                  <a:schemeClr val="bg1"/>
                </a:solidFill>
              </a:rPr>
              <a:t>bergantung</a:t>
            </a:r>
            <a:r>
              <a:rPr lang="en-US" sz="2800" dirty="0">
                <a:solidFill>
                  <a:schemeClr val="bg1"/>
                </a:solidFill>
              </a:rPr>
              <a:t> pada </a:t>
            </a:r>
            <a:r>
              <a:rPr lang="en-US" sz="2800" dirty="0" err="1">
                <a:solidFill>
                  <a:schemeClr val="bg1"/>
                </a:solidFill>
              </a:rPr>
              <a:t>distribusi</a:t>
            </a:r>
            <a:r>
              <a:rPr lang="en-US" sz="2800" dirty="0">
                <a:solidFill>
                  <a:schemeClr val="bg1"/>
                </a:solidFill>
              </a:rPr>
              <a:t> *training set*.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1116</Words>
  <Application>Microsoft Office PowerPoint</Application>
  <PresentationFormat>Widescreen</PresentationFormat>
  <Paragraphs>246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Bird Sound Classification Project — Revised</dc:title>
  <dc:subject>Bird Sound Classification — Redesigned deck from notebook outputs</dc:subject>
  <dc:creator>OpenAI</dc:creator>
  <cp:lastModifiedBy>Arib Taufiqurrohman</cp:lastModifiedBy>
  <cp:revision>3</cp:revision>
  <dcterms:created xsi:type="dcterms:W3CDTF">2026-05-04T15:44:04Z</dcterms:created>
  <dcterms:modified xsi:type="dcterms:W3CDTF">2026-05-04T16:17:03Z</dcterms:modified>
</cp:coreProperties>
</file>