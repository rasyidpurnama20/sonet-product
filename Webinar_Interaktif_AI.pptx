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89904" cy="6858000"/>
          </a:xfrm>
          <a:prstGeom prst="rect">
            <a:avLst/>
          </a:prstGeom>
          <a:solidFill>
            <a:srgbClr val="0D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9904" y="0"/>
            <a:ext cx="6099048" cy="6858000"/>
          </a:xfrm>
          <a:prstGeom prst="rect">
            <a:avLst/>
          </a:prstGeom>
          <a:solidFill>
            <a:srgbClr val="03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73152" cy="6858000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320040"/>
            <a:ext cx="3959352" cy="50292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320040"/>
            <a:ext cx="3959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</a:rPr>
              <a:t>⚡  WEBINAR NASIONAL  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58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</a:rPr>
              <a:t>BATTLE OF MINDS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D166"/>
                </a:solidFill>
              </a:rPr>
              <a:t>AI: ANCAMAN atau PELUANG?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3154680"/>
            <a:ext cx="1399032" cy="64008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3154680"/>
            <a:ext cx="1399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66"/>
                </a:solidFill>
              </a:rPr>
              <a:t>VS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40"/>
            <a:ext cx="4754880" cy="777240"/>
          </a:xfrm>
          <a:prstGeom prst="rect">
            <a:avLst/>
          </a:prstGeom>
          <a:solidFill>
            <a:srgbClr val="2A0810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9067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63946"/>
                </a:solidFill>
              </a:rPr>
              <a:t>🔴  YUVAL NOAH HARARI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68312" y="3063240"/>
            <a:ext cx="4754880" cy="777240"/>
          </a:xfrm>
          <a:prstGeom prst="rect">
            <a:avLst/>
          </a:prstGeom>
          <a:solidFill>
            <a:srgbClr val="03142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9752" y="309067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4D8"/>
                </a:solidFill>
              </a:rPr>
              <a:t>🔵  ANDREW 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950208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AAAA"/>
                </a:solidFill>
              </a:rPr>
              <a:t>Sejarawan · Penulis Sapiens</a:t>
            </a:r>
          </a:p>
          <a:p>
            <a:pPr algn="ctr"/>
            <a:r>
              <a:rPr sz="1200" b="0" i="1">
                <a:solidFill>
                  <a:srgbClr val="AAAAAA"/>
                </a:solidFill>
              </a:rPr>
              <a:t>Perspektif Kritis &amp; Historis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3950208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AAAAA"/>
                </a:solidFill>
              </a:rPr>
              <a:t>Pendiri DeepLearning.AI · Coursera</a:t>
            </a:r>
          </a:p>
          <a:p>
            <a:pPr algn="ctr"/>
            <a:r>
              <a:rPr sz="1200" b="0" i="1">
                <a:solidFill>
                  <a:srgbClr val="AAAAAA"/>
                </a:solidFill>
              </a:rPr>
              <a:t>Perspektif Optimis &amp; Pragmatis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Topik 1: AI dalam Dunia Pendidikan   |   Topik 2: AI dalam Dunia Kerja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66"/>
                </a:solidFill>
              </a:rPr>
              <a:t>📋  AGENDA WEBINAR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822960"/>
            <a:ext cx="4873752" cy="45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640080" cy="685800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1005840"/>
            <a:ext cx="10058400" cy="685800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04241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🔥  OPENING — Pertanyaan Pemantik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533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Apakah AI ancaman atau peluang bagimu?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92808"/>
            <a:ext cx="640080" cy="685800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92808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1892808"/>
            <a:ext cx="10058400" cy="685800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192938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🔴  PERSPEKTIF HARARI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0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AI dalam Pendidikan &amp; Karir — Sisi Kritis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79776"/>
            <a:ext cx="640080" cy="685800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79776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2779776"/>
            <a:ext cx="10058400" cy="685800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281635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🔵  PERSPEKTIF ANDREW 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AI dalam Pendidikan &amp; Karir — Sisi Optimis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66744"/>
            <a:ext cx="640080" cy="685800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66744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" y="3666744"/>
            <a:ext cx="10058400" cy="685800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370332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⚡  DUEL PERSPEKTIF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14215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Face-to-face: 4 tema utama dibenturkan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53712"/>
            <a:ext cx="640080" cy="685800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53712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34440" y="4553712"/>
            <a:ext cx="10058400" cy="685800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59028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💬  SESI INTERAKTIF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01184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Poll, Q&amp;A, &amp; Refleksi Peserta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40679"/>
            <a:ext cx="640080" cy="685800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40679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166"/>
                </a:solidFill>
              </a:rPr>
              <a:t>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440" y="5440679"/>
            <a:ext cx="10058400" cy="685800"/>
          </a:xfrm>
          <a:prstGeom prst="rect">
            <a:avLst/>
          </a:prstGeom>
          <a:solidFill>
            <a:srgbClr val="14141E"/>
          </a:solidFill>
          <a:ln w="19050">
            <a:solidFill>
              <a:srgbClr val="2A2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477255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🚀  ACTION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788151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Langkah konkret untuk kamu mulai hari ini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164592"/>
            <a:ext cx="4873752" cy="50292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164592"/>
            <a:ext cx="4873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⚡  PERTANYAAN PEMBUKA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916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Menurutmu, AI itu</a:t>
            </a:r>
          </a:p>
          <a:p>
            <a:pPr algn="ctr"/>
            <a:r>
              <a:rPr sz="4000" b="1" i="0">
                <a:solidFill>
                  <a:srgbClr val="FFFFFF"/>
                </a:solidFill>
              </a:rPr>
              <a:t>ANCAMAN atau PELUANG?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D166"/>
                </a:solidFill>
              </a:rPr>
              <a:t>🗳️  Ketik jawabanmu di kolom chat sekarang!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5029200" cy="1463040"/>
          </a:xfrm>
          <a:prstGeom prst="rect">
            <a:avLst/>
          </a:prstGeom>
          <a:solidFill>
            <a:srgbClr val="2A0810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63946"/>
                </a:solidFill>
              </a:rPr>
              <a:t>🔴 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ANCAMAN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AI akan mengambil pekerjaan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&amp; merusak tatanan sosial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11112" y="2971800"/>
            <a:ext cx="5029200" cy="1463040"/>
          </a:xfrm>
          <a:prstGeom prst="rect">
            <a:avLst/>
          </a:prstGeom>
          <a:solidFill>
            <a:srgbClr val="03142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30632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🔵 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35204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PELUANG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AI akan membuka lapangan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kerja &amp; akselerasi kemajuan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971800"/>
            <a:ext cx="2496312" cy="1463040"/>
          </a:xfrm>
          <a:prstGeom prst="rect">
            <a:avLst/>
          </a:prstGeom>
          <a:solidFill>
            <a:srgbClr val="1A1A10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063240"/>
            <a:ext cx="2496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166"/>
                </a:solidFill>
              </a:rPr>
              <a:t>⚡ 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520440"/>
            <a:ext cx="2496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KEDUANYA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Tergantung bagaimana</a:t>
            </a:r>
          </a:p>
          <a:p>
            <a:pPr algn="ctr"/>
            <a:r>
              <a:rPr sz="1200" b="0" i="0">
                <a:solidFill>
                  <a:srgbClr val="FFFFFF"/>
                </a:solidFill>
              </a:rPr>
              <a:t>kita menyikapinya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</a:rPr>
              <a:t>💡  Tidak ada jawaban salah — semua perspektif valid dan akan kita bahas hari ini!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" cy="67482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3A0A10"/>
                </a:solidFill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AI bukan sekadar alat.</a:t>
            </a:r>
          </a:p>
          <a:p>
            <a:pPr algn="l"/>
            <a:r>
              <a:rPr sz="3400" b="1" i="0">
                <a:solidFill>
                  <a:srgbClr val="FFFFFF"/>
                </a:solidFill>
              </a:rPr>
              <a:t>IA adalah kekuatan yang bisa</a:t>
            </a:r>
          </a:p>
          <a:p>
            <a:pPr algn="l"/>
            <a:r>
              <a:rPr sz="3400" b="1" i="0">
                <a:solidFill>
                  <a:srgbClr val="FFFFFF"/>
                </a:solidFill>
              </a:rPr>
              <a:t>belajar, berubah, dan memanipulasi.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37560"/>
            <a:ext cx="5486400" cy="457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63946"/>
                </a:solidFill>
              </a:rPr>
              <a:t>— Yuval Noah Harari</a:t>
            </a:r>
          </a:p>
          <a:p>
            <a:pPr algn="l"/>
            <a:r>
              <a:rPr sz="1600" b="0" i="1">
                <a:solidFill>
                  <a:srgbClr val="E63946"/>
                </a:solidFill>
              </a:rPr>
              <a:t>Sejarawan &amp; Penulis Nexus (2024)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371600"/>
            <a:ext cx="3931920" cy="3657600"/>
          </a:xfrm>
          <a:prstGeom prst="rect">
            <a:avLst/>
          </a:prstGeom>
          <a:solidFill>
            <a:srgbClr val="1A0508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46304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🔴  YUVAL NOAH HARARI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📚  Sapiens (2011)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📚  Homo Deus (2015)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📚  21 Lessons (2018)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📚  Nexus (2024)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🎓  Hebrew University Jerusalem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🎓  Cambridge — Existential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</a:rPr>
              <a:t>"Jika manusia tidak hati-hati, AI akan mengontrol
narasi — dan siapa yang mengontrol narasi, mengontrol dunia."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" cy="67482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3946"/>
                </a:solidFill>
              </a:rPr>
              <a:t>🔴  HARARI  —  AI dalam Dunia Pendidikan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1430000" cy="36576"/>
          </a:xfrm>
          <a:prstGeom prst="rect">
            <a:avLst/>
          </a:prstGeom>
          <a:solidFill>
            <a:srgbClr val="2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2697480" cy="5303520"/>
          </a:xfrm>
          <a:prstGeom prst="rect">
            <a:avLst/>
          </a:prstGeom>
          <a:solidFill>
            <a:srgbClr val="14141E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2697480" cy="50292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4183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3946"/>
                </a:solidFill>
              </a:rPr>
              <a:t>⚠️  DAMPAK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2423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Anak-anak tumbuh lebih banyak berinteraksi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dengan AI daripada manusia — generasi pertama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yang pikirannya dibentuk oleh algoritma.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914400"/>
            <a:ext cx="2697480" cy="5303520"/>
          </a:xfrm>
          <a:prstGeom prst="rect">
            <a:avLst/>
          </a:prstGeom>
          <a:solidFill>
            <a:srgbClr val="14141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914400"/>
            <a:ext cx="2697480" cy="50292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94183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6B"/>
                </a:solidFill>
              </a:rPr>
              <a:t>🧠  TANTANGAN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1508760"/>
            <a:ext cx="2423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AI bisa menulis esai lebih baik dari siswa.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Tapi PROSES menulislah yang mengajarkan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berpikir — bukan hasilnya.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914400"/>
            <a:ext cx="2697480" cy="530352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914400"/>
            <a:ext cx="2697480" cy="50292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94183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🌍  KETIMPANGAN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508760"/>
            <a:ext cx="2423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Negara kaya → infrastruktur AI kuat → semakin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maju. Negara berkembang berisiko tertinggal.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Peluang ini TIDAK demokratis.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914400"/>
            <a:ext cx="2697480" cy="530352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914400"/>
            <a:ext cx="2697480" cy="50292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94183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📖  LITERASI BARU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508760"/>
            <a:ext cx="2423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Melek huruf era AI = mampu membedakan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narasi dari manusia vs algoritma.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Tanpa ini, manusia mudah dimanipulasi.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D166"/>
                </a:solidFill>
              </a:rPr>
              <a:t>💬  Pertanyaan untuk peserta: "Pernahkah kamu merasa lebih nyaman bertanya ke AI daripada ke guru/dosen?"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228600" cy="67482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3946"/>
                </a:solidFill>
              </a:rPr>
              <a:t>🔴  HARARI  —  AI dalam Dunia Kerja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3749039" cy="2286000"/>
          </a:xfrm>
          <a:prstGeom prst="rect">
            <a:avLst/>
          </a:prstGeom>
          <a:solidFill>
            <a:srgbClr val="2A0810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3946"/>
                </a:solidFill>
              </a:rPr>
              <a:t>800 Juta</a:t>
            </a:r>
          </a:p>
          <a:p>
            <a:pPr algn="ctr"/>
            <a:r>
              <a:rPr sz="3600" b="1" i="0">
                <a:solidFill>
                  <a:srgbClr val="E63946"/>
                </a:solidFill>
              </a:rPr>
              <a:t>pekerjaan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AAAA"/>
                </a:solidFill>
              </a:rPr>
              <a:t>berisiko terotomasi</a:t>
            </a:r>
          </a:p>
          <a:p>
            <a:pPr algn="ctr"/>
            <a:r>
              <a:rPr sz="1100" b="0" i="1">
                <a:solidFill>
                  <a:srgbClr val="AAAAAA"/>
                </a:solidFill>
              </a:rPr>
              <a:t>oleh AI pada 2030</a:t>
            </a:r>
          </a:p>
          <a:p>
            <a:pPr algn="ctr"/>
            <a:r>
              <a:rPr sz="1100" b="0" i="1">
                <a:solidFill>
                  <a:srgbClr val="AAAAAA"/>
                </a:solidFill>
              </a:rPr>
              <a:t>(McKinsey Global Institute)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822960"/>
            <a:ext cx="3749039" cy="2286000"/>
          </a:xfrm>
          <a:prstGeom prst="rect">
            <a:avLst/>
          </a:prstGeom>
          <a:solidFill>
            <a:srgbClr val="1A0A0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91440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6B"/>
                </a:solidFill>
              </a:rPr>
              <a:t>"Useless</a:t>
            </a:r>
          </a:p>
          <a:p>
            <a:pPr algn="ctr"/>
            <a:r>
              <a:rPr sz="3600" b="1" i="0">
                <a:solidFill>
                  <a:srgbClr val="FF6B6B"/>
                </a:solidFill>
              </a:rPr>
              <a:t>Class"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2024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AAAA"/>
                </a:solidFill>
              </a:rPr>
              <a:t>Harari: Revolusi AI bisa</a:t>
            </a:r>
          </a:p>
          <a:p>
            <a:pPr algn="ctr"/>
            <a:r>
              <a:rPr sz="1100" b="0" i="1">
                <a:solidFill>
                  <a:srgbClr val="AAAAAA"/>
                </a:solidFill>
              </a:rPr>
              <a:t>menciptakan kelas manusia</a:t>
            </a:r>
          </a:p>
          <a:p>
            <a:pPr algn="ctr"/>
            <a:r>
              <a:rPr sz="1100" b="0" i="1">
                <a:solidFill>
                  <a:srgbClr val="AAAAAA"/>
                </a:solidFill>
              </a:rPr>
              <a:t>yang tidak dibutuhkan ekonomi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822960"/>
            <a:ext cx="3566160" cy="2286000"/>
          </a:xfrm>
          <a:prstGeom prst="rect">
            <a:avLst/>
          </a:prstGeom>
          <a:solidFill>
            <a:srgbClr val="1A150A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9144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166"/>
                </a:solidFill>
              </a:rPr>
              <a:t>Ketimpangan</a:t>
            </a:r>
          </a:p>
          <a:p>
            <a:pPr algn="ctr"/>
            <a:r>
              <a:rPr sz="3000" b="1" i="0">
                <a:solidFill>
                  <a:srgbClr val="FFD166"/>
                </a:solidFill>
              </a:rPr>
              <a:t>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2024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AAAA"/>
                </a:solidFill>
              </a:rPr>
              <a:t>AI menguntungkan negara</a:t>
            </a:r>
          </a:p>
          <a:p>
            <a:pPr algn="ctr"/>
            <a:r>
              <a:rPr sz="1100" b="0" i="1">
                <a:solidFill>
                  <a:srgbClr val="AAAAAA"/>
                </a:solidFill>
              </a:rPr>
              <a:t>kaya. Negara berkembang</a:t>
            </a:r>
          </a:p>
          <a:p>
            <a:pPr algn="ctr"/>
            <a:r>
              <a:rPr sz="1100" b="0" i="1">
                <a:solidFill>
                  <a:srgbClr val="AAAAAA"/>
                </a:solidFill>
              </a:rPr>
              <a:t>berisiko tertinggal.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91840"/>
            <a:ext cx="3749039" cy="2560320"/>
          </a:xfrm>
          <a:prstGeom prst="rect">
            <a:avLst/>
          </a:prstGeom>
          <a:solidFill>
            <a:srgbClr val="14141E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649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🔁  Perubahan STRUKTURAL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94760"/>
            <a:ext cx="3383280" cy="36576"/>
          </a:xfrm>
          <a:prstGeom prst="rect">
            <a:avLst/>
          </a:prstGeom>
          <a:solidFill>
            <a:srgbClr val="3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Bukan hanya otomasi fisik — AI menggantikan KOGNITIF: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hukum, akuntansi, diagnosis, penulisan.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291840"/>
            <a:ext cx="3749039" cy="2560320"/>
          </a:xfrm>
          <a:prstGeom prst="rect">
            <a:avLst/>
          </a:prstGeom>
          <a:solidFill>
            <a:srgbClr val="14141E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3649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⚖️  Tanggung Jawab SIAPA?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794760"/>
            <a:ext cx="3383280" cy="36576"/>
          </a:xfrm>
          <a:prstGeom prst="rect">
            <a:avLst/>
          </a:prstGeom>
          <a:solidFill>
            <a:srgbClr val="3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88620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"Reskilling" seolah mengalihkan tanggung jawab ke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individu. Padahal ini gagal sistem, bukan gagal pekerja.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749039" cy="2560320"/>
          </a:xfrm>
          <a:prstGeom prst="rect">
            <a:avLst/>
          </a:prstGeom>
          <a:solidFill>
            <a:srgbClr val="14141E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3649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🏛️  Butuh REGULASI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3794760"/>
            <a:ext cx="3383280" cy="36576"/>
          </a:xfrm>
          <a:prstGeom prst="rect">
            <a:avLst/>
          </a:prstGeom>
          <a:solidFill>
            <a:srgbClr val="3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88620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Kita butuh regulasi global AI yang demokratis —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bukan hanya optimisme tanpa tata kelola.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60352" y="54864"/>
            <a:ext cx="228600" cy="67482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2743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031A25"/>
                </a:solidFill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AI adalah listrik baru.</a:t>
            </a:r>
          </a:p>
          <a:p>
            <a:pPr algn="l"/>
            <a:r>
              <a:rPr sz="3400" b="1" i="0">
                <a:solidFill>
                  <a:srgbClr val="FFFFFF"/>
                </a:solidFill>
              </a:rPr>
              <a:t>Seperti listrik mengubah segalanya,</a:t>
            </a:r>
          </a:p>
          <a:p>
            <a:pPr algn="l"/>
            <a:r>
              <a:rPr sz="3400" b="1" i="0">
                <a:solidFill>
                  <a:srgbClr val="FFFFFF"/>
                </a:solidFill>
              </a:rPr>
              <a:t>AI akan mengubah setiap industri.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337560"/>
            <a:ext cx="5486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— Andrew Ng</a:t>
            </a:r>
          </a:p>
          <a:p>
            <a:pPr algn="l"/>
            <a:r>
              <a:rPr sz="1600" b="0" i="1">
                <a:solidFill>
                  <a:srgbClr val="00B4D8"/>
                </a:solidFill>
              </a:rPr>
              <a:t>Pendiri DeepLearning.AI, Coursera, Landing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4114800" cy="3840480"/>
          </a:xfrm>
          <a:prstGeom prst="rect">
            <a:avLst/>
          </a:prstGeom>
          <a:solidFill>
            <a:srgbClr val="03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37490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🔵  ANDREW NG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🏫  Stanford University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🧠  Pendiri Google Brain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🎓  Chief Scientist — Baidu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📱  Co-founder Coursera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🚀  Founder DeepLearning.AI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👨‍🎓  8 Juta+ siswa diajar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📋  Time100 AI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AA"/>
                </a:solidFill>
              </a:rPr>
              <a:t>"AI jobs are growing, not shrinking.
Pertanyaannya bukan apakah ada pekerjaan — tapi apakah kamu siap mengambilnya."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60352" y="54864"/>
            <a:ext cx="228600" cy="67482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🔵  ANDREW NG  —  AI dalam Dunia Pendidikan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697480" cy="512064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2697480" cy="502920"/>
          </a:xfrm>
          <a:prstGeom prst="rect">
            <a:avLst/>
          </a:prstGeom>
          <a:solidFill>
            <a:srgbClr val="05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4183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🎓  DEMOKRATISASI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2423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Setiap siswa di desa terpencil bisa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punya tutor pribadi 24/7 berkualitas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tinggi — gratis. Ini belum pernah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terjadi sepanjang sejarah manusia.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914400"/>
            <a:ext cx="2697480" cy="512064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914400"/>
            <a:ext cx="2697480" cy="502920"/>
          </a:xfrm>
          <a:prstGeom prst="rect">
            <a:avLst/>
          </a:prstGeom>
          <a:solidFill>
            <a:srgbClr val="05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94183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🤖  AI AGENT GURU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1508760"/>
            <a:ext cx="2423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Kira Learning (2025): AI agents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membantu guru fokus pada hal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terpenting — relasi, motivasi,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&amp; bimbingan personal siswa.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914400"/>
            <a:ext cx="2697480" cy="512064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914400"/>
            <a:ext cx="2697480" cy="502920"/>
          </a:xfrm>
          <a:prstGeom prst="rect">
            <a:avLst/>
          </a:prstGeom>
          <a:solidFill>
            <a:srgbClr val="05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94183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🔓  BARRIER TURUN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508760"/>
            <a:ext cx="2423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8 juta+ orang sudah belajar AI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lewat Coursera &amp; DeepLearning.AI.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"AI for Everyone" = bukan slogan,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ini misi nyata yang terbukti.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914400"/>
            <a:ext cx="2697480" cy="5120640"/>
          </a:xfrm>
          <a:prstGeom prst="rect">
            <a:avLst/>
          </a:prstGeom>
          <a:solidFill>
            <a:srgbClr val="14141E"/>
          </a:solidFill>
          <a:ln w="19050">
            <a:solidFill>
              <a:srgbClr val="B5E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914400"/>
            <a:ext cx="2697480" cy="502920"/>
          </a:xfrm>
          <a:prstGeom prst="rect">
            <a:avLst/>
          </a:prstGeom>
          <a:solidFill>
            <a:srgbClr val="05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94183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5E3FF"/>
                </a:solidFill>
              </a:rPr>
              <a:t>📐  REDESIGN PENILAIAN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508760"/>
            <a:ext cx="2423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Masalah plagiarisme? Bukan larang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AI — tapi rancang ulang cara kita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menilai. Uji pemahaman nyata,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bukan kemampuan menghafal.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126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00B4D8"/>
                </a:solidFill>
              </a:rPr>
              <a:t>💬  "AI memungkinkan satu guru luar biasa menjangkau jutaan siswa — bukan menggantikan guru, tapi melipatgandakan dampaknya." — Andrew Ng,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60352" y="54864"/>
            <a:ext cx="228600" cy="67482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🔵  ANDREW NG  —  AI dalam Dunia Kerja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3749039" cy="210312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97 Juta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pekerjaan BARU</a:t>
            </a:r>
          </a:p>
          <a:p>
            <a:pPr algn="ctr"/>
            <a:r>
              <a:rPr sz="1300" b="0" i="0">
                <a:solidFill>
                  <a:srgbClr val="AAAAAA"/>
                </a:solidFill>
              </a:rPr>
              <a:t>akan tercipta</a:t>
            </a:r>
          </a:p>
          <a:p>
            <a:pPr algn="ctr"/>
            <a:r>
              <a:rPr sz="1300" b="0" i="0">
                <a:solidFill>
                  <a:srgbClr val="AAAAAA"/>
                </a:solidFill>
              </a:rPr>
              <a:t>(WEF 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822960"/>
            <a:ext cx="3749039" cy="210312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896112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D6A0"/>
                </a:solidFill>
              </a:rPr>
              <a:t>Superpower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Satu orang + AI =</a:t>
            </a:r>
          </a:p>
          <a:p>
            <a:pPr algn="ctr"/>
            <a:r>
              <a:rPr sz="1300" b="0" i="0">
                <a:solidFill>
                  <a:srgbClr val="AAAAAA"/>
                </a:solidFill>
              </a:rPr>
              <a:t>dampak setara</a:t>
            </a:r>
          </a:p>
          <a:p>
            <a:pPr algn="ctr"/>
            <a:r>
              <a:rPr sz="1300" b="0" i="0">
                <a:solidFill>
                  <a:srgbClr val="AAAAAA"/>
                </a:solidFill>
              </a:rPr>
              <a:t>satu tim besar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822960"/>
            <a:ext cx="3749039" cy="210312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896112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166"/>
                </a:solidFill>
              </a:rPr>
              <a:t>Vibe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Non-programmer</a:t>
            </a:r>
          </a:p>
          <a:p>
            <a:pPr algn="ctr"/>
            <a:r>
              <a:rPr sz="1300" b="0" i="0">
                <a:solidFill>
                  <a:srgbClr val="AAAAAA"/>
                </a:solidFill>
              </a:rPr>
              <a:t>bisa bangun</a:t>
            </a:r>
          </a:p>
          <a:p>
            <a:pPr algn="ctr"/>
            <a:r>
              <a:rPr sz="1300" b="0" i="0">
                <a:solidFill>
                  <a:srgbClr val="AAAAAA"/>
                </a:solidFill>
              </a:rPr>
              <a:t>aplikasi sendiri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3749039" cy="265176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8211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⚡  AGENTIC AI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11880"/>
            <a:ext cx="3383280" cy="36576"/>
          </a:xfrm>
          <a:prstGeom prst="rect">
            <a:avLst/>
          </a:prstGeom>
          <a:solidFill>
            <a:srgbClr val="05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49039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AI bekerja iteratif seperti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manusia berpikir — membuka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produktivitas tak terbatas.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108960"/>
            <a:ext cx="3749039" cy="265176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18211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🎯  3 KOMPETENSI KUNCI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611880"/>
            <a:ext cx="3383280" cy="36576"/>
          </a:xfrm>
          <a:prstGeom prst="rect">
            <a:avLst/>
          </a:prstGeom>
          <a:solidFill>
            <a:srgbClr val="05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749039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① AI tools dalam kerja harian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② Berpikir sistematis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③ Soft skills tak terotomasi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108960"/>
            <a:ext cx="3749039" cy="265176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18211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🔁  MULAI SEKARANG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3611880"/>
            <a:ext cx="3383280" cy="36576"/>
          </a:xfrm>
          <a:prstGeom prst="rect">
            <a:avLst/>
          </a:prstGeom>
          <a:solidFill>
            <a:srgbClr val="05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749039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Jangan tunggu perusahaan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berubah. Mulai dari dirimu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— pelajari 1 AI tool hari ini.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3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3017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3063240"/>
            <a:ext cx="30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VS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943600" cy="594360"/>
          </a:xfrm>
          <a:prstGeom prst="rect">
            <a:avLst/>
          </a:prstGeom>
          <a:solidFill>
            <a:srgbClr val="2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914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3946"/>
                </a:solidFill>
              </a:rPr>
              <a:t>🔴  HARARI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0"/>
            <a:ext cx="5943600" cy="594360"/>
          </a:xfrm>
          <a:prstGeom prst="rect">
            <a:avLst/>
          </a:prstGeom>
          <a:solidFill>
            <a:srgbClr val="03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352" y="914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🔵  ANDREW 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008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166"/>
                </a:solidFill>
              </a:rPr>
              <a:t>🎓  AI &amp; PENDIDIKAN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143000"/>
            <a:ext cx="5669280" cy="1554480"/>
          </a:xfrm>
          <a:prstGeom prst="rect">
            <a:avLst/>
          </a:prstGeom>
          <a:solidFill>
            <a:srgbClr val="14141E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2512" y="1143000"/>
            <a:ext cx="5669280" cy="1554480"/>
          </a:xfrm>
          <a:prstGeom prst="rect">
            <a:avLst/>
          </a:prstGeom>
          <a:solidFill>
            <a:srgbClr val="14141E"/>
          </a:solidFill>
          <a:ln w="19050">
            <a:solidFill>
              <a:srgbClr val="03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2344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Pola pikir anak dibentuk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algorithma tanpa disadari.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Bahaya tersembunyi.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2344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Tutor pribadi untuk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semua — mempercepat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pemahaman siswa.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6459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Dampak pada
siswa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" y="2880360"/>
            <a:ext cx="5669280" cy="1554480"/>
          </a:xfrm>
          <a:prstGeom prst="rect">
            <a:avLst/>
          </a:prstGeom>
          <a:solidFill>
            <a:srgbClr val="14141E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2512" y="2880360"/>
            <a:ext cx="5669280" cy="1554480"/>
          </a:xfrm>
          <a:prstGeom prst="rect">
            <a:avLst/>
          </a:prstGeom>
          <a:solidFill>
            <a:srgbClr val="14141E"/>
          </a:solidFill>
          <a:ln w="19050">
            <a:solidFill>
              <a:srgbClr val="03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9718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AI mengancam kemampuan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berpikir mandiri. Proses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belajar yang hilang.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Redesign penilaian!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Uji pemahaman nyata,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bukan hafalan.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3832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Berpikir
kritis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4617720"/>
            <a:ext cx="5669280" cy="1554480"/>
          </a:xfrm>
          <a:prstGeom prst="rect">
            <a:avLst/>
          </a:prstGeom>
          <a:solidFill>
            <a:srgbClr val="14141E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82512" y="4617720"/>
            <a:ext cx="5669280" cy="1554480"/>
          </a:xfrm>
          <a:prstGeom prst="rect">
            <a:avLst/>
          </a:prstGeom>
          <a:solidFill>
            <a:srgbClr val="14141E"/>
          </a:solidFill>
          <a:ln w="19050">
            <a:solidFill>
              <a:srgbClr val="03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709159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Peluang tidak merata.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Negara kaya makin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maju, miskin tertinggal.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59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Demokratisasi!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Desa terpencil bisa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akses kualitas terbaik.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1206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Akses
pendidikan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3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3017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3063240"/>
            <a:ext cx="301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VS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943600" cy="594360"/>
          </a:xfrm>
          <a:prstGeom prst="rect">
            <a:avLst/>
          </a:prstGeom>
          <a:solidFill>
            <a:srgbClr val="2A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914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3946"/>
                </a:solidFill>
              </a:rPr>
              <a:t>🔴  HARARI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0"/>
            <a:ext cx="5943600" cy="594360"/>
          </a:xfrm>
          <a:prstGeom prst="rect">
            <a:avLst/>
          </a:prstGeom>
          <a:solidFill>
            <a:srgbClr val="03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352" y="9144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🔵  ANDREW 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008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166"/>
                </a:solidFill>
              </a:rPr>
              <a:t>💼  AI &amp; DUNIA KERJA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143000"/>
            <a:ext cx="5669280" cy="1554480"/>
          </a:xfrm>
          <a:prstGeom prst="rect">
            <a:avLst/>
          </a:prstGeom>
          <a:solidFill>
            <a:srgbClr val="14141E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82512" y="1143000"/>
            <a:ext cx="5669280" cy="1554480"/>
          </a:xfrm>
          <a:prstGeom prst="rect">
            <a:avLst/>
          </a:prstGeom>
          <a:solidFill>
            <a:srgbClr val="14141E"/>
          </a:solidFill>
          <a:ln w="19050">
            <a:solidFill>
              <a:srgbClr val="03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2344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800 juta pekerjaan berisiko.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Revolusi AI bisa ciptakan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"Useless Class" baru.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2344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97 juta pekerjaan baru!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Sejarah terbukti: teknologi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selalu ciptakan lebih banyak.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6459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Nasib
pekerjaan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" y="2880360"/>
            <a:ext cx="5669280" cy="1554480"/>
          </a:xfrm>
          <a:prstGeom prst="rect">
            <a:avLst/>
          </a:prstGeom>
          <a:solidFill>
            <a:srgbClr val="14141E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2512" y="2880360"/>
            <a:ext cx="5669280" cy="1554480"/>
          </a:xfrm>
          <a:prstGeom prst="rect">
            <a:avLst/>
          </a:prstGeom>
          <a:solidFill>
            <a:srgbClr val="14141E"/>
          </a:solidFill>
          <a:ln w="19050">
            <a:solidFill>
              <a:srgbClr val="03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9718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"Reskilling" = alibi korporasi.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Tanggung jawab bukan di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individu, tapi di sistem.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Mulai dari dirimu sekarang!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Jangan tunggu. 1 AI tool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per hari = karir masa depan.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3832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Reskilling
&amp; Adaptasi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4617720"/>
            <a:ext cx="5669280" cy="1554480"/>
          </a:xfrm>
          <a:prstGeom prst="rect">
            <a:avLst/>
          </a:prstGeom>
          <a:solidFill>
            <a:srgbClr val="14141E"/>
          </a:solidFill>
          <a:ln w="19050">
            <a:solidFill>
              <a:srgbClr val="3A0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82512" y="4617720"/>
            <a:ext cx="5669280" cy="1554480"/>
          </a:xfrm>
          <a:prstGeom prst="rect">
            <a:avLst/>
          </a:prstGeom>
          <a:solidFill>
            <a:srgbClr val="14141E"/>
          </a:solidFill>
          <a:ln w="19050">
            <a:solidFill>
              <a:srgbClr val="03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709159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Regulasi global. Tata kelola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AI demokratis. Jaminan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sosial bagi yang terdampak.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59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Pendidikan masif &amp; cepat.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AI for Everyone. Semua</a:t>
            </a:r>
          </a:p>
          <a:p>
            <a:pPr algn="l"/>
            <a:r>
              <a:rPr sz="1250" b="0" i="0">
                <a:solidFill>
                  <a:srgbClr val="FFFFFF"/>
                </a:solidFill>
              </a:rPr>
              <a:t>bisa, semua harus belajar.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1206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Solusi
yang dibutuhkan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164592"/>
            <a:ext cx="5239512" cy="502920"/>
          </a:xfrm>
          <a:prstGeom prst="rect">
            <a:avLst/>
          </a:prstGeom>
          <a:solidFill>
            <a:srgbClr val="1A1A2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164592"/>
            <a:ext cx="52395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🗳️  POLL INTERAKTIF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Setelah mendengar kedua perspektif,</a:t>
            </a:r>
          </a:p>
          <a:p>
            <a:pPr algn="ctr"/>
            <a:r>
              <a:rPr sz="3200" b="1" i="0">
                <a:solidFill>
                  <a:srgbClr val="FFFFFF"/>
                </a:solidFill>
              </a:rPr>
              <a:t>kamu lebih setuju dengan siapa?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D166"/>
                </a:solidFill>
              </a:rPr>
              <a:t>🎯  Ketik di chat: HARARI / NG / KEDUANYA + alasan singkatmu!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5212080" cy="2834640"/>
          </a:xfrm>
          <a:prstGeom prst="rect">
            <a:avLst/>
          </a:prstGeom>
          <a:solidFill>
            <a:srgbClr val="2A0810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E63946"/>
                </a:solidFill>
              </a:rPr>
              <a:t>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3946"/>
                </a:solidFill>
              </a:rPr>
              <a:t>TEAM HARARI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AI perlu diawasi ketat.</a:t>
            </a:r>
          </a:p>
          <a:p>
            <a:pPr algn="ctr"/>
            <a:r>
              <a:rPr sz="1300" b="0" i="0">
                <a:solidFill>
                  <a:srgbClr val="AAAAAA"/>
                </a:solidFill>
              </a:rPr>
              <a:t>Manusia harus tetap mengontrol</a:t>
            </a:r>
          </a:p>
          <a:p>
            <a:pPr algn="ctr"/>
            <a:r>
              <a:rPr sz="1300" b="0" i="0">
                <a:solidFill>
                  <a:srgbClr val="AAAAAA"/>
                </a:solidFill>
              </a:rPr>
              <a:t>narasi &amp; sistem.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19672" y="2697480"/>
            <a:ext cx="5212080" cy="2834640"/>
          </a:xfrm>
          <a:prstGeom prst="rect">
            <a:avLst/>
          </a:prstGeom>
          <a:solidFill>
            <a:srgbClr val="03142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78892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00B4D8"/>
                </a:solidFill>
              </a:rPr>
              <a:t>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36118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TEAM ANDREW 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41605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AI adalah peluang besar.</a:t>
            </a:r>
          </a:p>
          <a:p>
            <a:pPr algn="ctr"/>
            <a:r>
              <a:rPr sz="1300" b="0" i="0">
                <a:solidFill>
                  <a:srgbClr val="AAAAAA"/>
                </a:solidFill>
              </a:rPr>
              <a:t>Belajar &amp; adaptasi adalah</a:t>
            </a:r>
          </a:p>
          <a:p>
            <a:pPr algn="ctr"/>
            <a:r>
              <a:rPr sz="1300" b="0" i="0">
                <a:solidFill>
                  <a:srgbClr val="AAAAAA"/>
                </a:solidFill>
              </a:rPr>
              <a:t>kunci — mulai sekarang!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880360"/>
            <a:ext cx="2313432" cy="246888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017520"/>
            <a:ext cx="2313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D166"/>
                </a:solidFill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794760"/>
            <a:ext cx="2313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166"/>
                </a:solidFill>
              </a:rPr>
              <a:t>KEDUANYA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297680"/>
            <a:ext cx="2313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Bisa ancaman</a:t>
            </a:r>
          </a:p>
          <a:p>
            <a:pPr algn="ctr"/>
            <a:r>
              <a:rPr sz="1100" b="0" i="0">
                <a:solidFill>
                  <a:srgbClr val="AAAAAA"/>
                </a:solidFill>
              </a:rPr>
              <a:t>sekaligus peluang</a:t>
            </a:r>
          </a:p>
          <a:p>
            <a:pPr algn="ctr"/>
            <a:r>
              <a:rPr sz="1100" b="0" i="0">
                <a:solidFill>
                  <a:srgbClr val="AAAAAA"/>
                </a:solidFill>
              </a:rPr>
              <a:t>— bergantung kita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6D6A0"/>
                </a:solidFill>
              </a:rPr>
              <a:t>🤝  TITIK TEMU  —  Harari &amp; Andrew Ng Sepakat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AA"/>
                </a:solidFill>
              </a:rPr>
              <a:t>Di balik perbedaan tajam, ada hal-hal yang mereka SEPAKATI bersama: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91440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6D6A0"/>
                </a:solidFill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533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Literasi AI adalah WAJIB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556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Semua orang — guru, dokter, petani, pengusaha — harus</a:t>
            </a:r>
          </a:p>
          <a:p>
            <a:pPr algn="l"/>
            <a:r>
              <a:rPr sz="1200" b="0" i="0">
                <a:solidFill>
                  <a:srgbClr val="AAAAAA"/>
                </a:solidFill>
              </a:rPr>
              <a:t>memahami AI. Bukan pilihan, ini keharusan era digital.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04288"/>
            <a:ext cx="11274552" cy="91440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87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6D6A0"/>
                </a:solidFill>
              </a:rP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77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 bisa disalahgunakan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7977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Tanpa regulasi &amp; etika yang kuat, AI bisa menjadi alat</a:t>
            </a:r>
          </a:p>
          <a:p>
            <a:pPr algn="l"/>
            <a:r>
              <a:rPr sz="1200" b="0" i="0">
                <a:solidFill>
                  <a:srgbClr val="AAAAAA"/>
                </a:solidFill>
              </a:rPr>
              <a:t>manipulasi, ketimpangan, dan hilangnya privasi.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28416"/>
            <a:ext cx="11274552" cy="91440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1129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6D6A0"/>
                </a:solidFill>
              </a:rPr>
              <a:t>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0156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Soft skills makin vital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80390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Kreativitas, empati, kepemimpinan &amp; berpikir kritis adalah</a:t>
            </a:r>
          </a:p>
          <a:p>
            <a:pPr algn="l"/>
            <a:r>
              <a:rPr sz="1200" b="0" i="0">
                <a:solidFill>
                  <a:srgbClr val="AAAAAA"/>
                </a:solidFill>
              </a:rPr>
              <a:t>kompetensi yang TIDAK bisa diotomasi oleh AI.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52544"/>
            <a:ext cx="11274552" cy="91440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3542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6D6A0"/>
                </a:solidFill>
              </a:rPr>
              <a:t>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2569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Pendidikan harus berevolusi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828031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Sistem pendidikan yang mengajarkan hafalan tanpa</a:t>
            </a:r>
          </a:p>
          <a:p>
            <a:pPr algn="l"/>
            <a:r>
              <a:rPr sz="1200" b="0" i="0">
                <a:solidFill>
                  <a:srgbClr val="AAAAAA"/>
                </a:solidFill>
              </a:rPr>
              <a:t>pemahaman kritis akan gagal di era AI.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76672"/>
            <a:ext cx="11274552" cy="91440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5595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6D6A0"/>
                </a:solidFill>
              </a:rPr>
              <a:t>⚖️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44982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Manusia tetap harus memimpin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852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AA"/>
                </a:solidFill>
              </a:rPr>
              <a:t>AI adalah alat. Manusia yang harus menentukan</a:t>
            </a:r>
          </a:p>
          <a:p>
            <a:pPr algn="l"/>
            <a:r>
              <a:rPr sz="1200" b="0" i="0">
                <a:solidFill>
                  <a:srgbClr val="AAAAAA"/>
                </a:solidFill>
              </a:rPr>
              <a:t>tujuan, nilai, dan arah penggunaannya.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166"/>
                </a:solidFill>
              </a:rPr>
              <a:t>🚀  ACTION PLAN  —  Mulai Dari Kamu Hari 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697480" cy="512064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697480" cy="100584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HARI 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Coba satu AI tool dalam kerja/belajarmu: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ChatGPT, Gemini, atau Perplexity.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914400"/>
            <a:ext cx="2697480" cy="5120640"/>
          </a:xfrm>
          <a:prstGeom prst="rect">
            <a:avLst/>
          </a:prstGeom>
          <a:solidFill>
            <a:srgbClr val="14141E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914400"/>
            <a:ext cx="2697480" cy="100584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960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D6A0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4630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MINGGU 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201168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Daftar 1 kursus AI gratis: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DeepLearning.AI / Coursera / Google AI.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914400"/>
            <a:ext cx="2697480" cy="512064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914400"/>
            <a:ext cx="2697480" cy="100584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960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166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4630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</a:rPr>
              <a:t>BULAN 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01168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Identifikasi 3 tugas rutinmu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yang bisa dibantu atau diotomasi AI.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914400"/>
            <a:ext cx="2697480" cy="5120640"/>
          </a:xfrm>
          <a:prstGeom prst="rect">
            <a:avLst/>
          </a:prstGeom>
          <a:solidFill>
            <a:srgbClr val="14141E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914400"/>
            <a:ext cx="2697480" cy="1005840"/>
          </a:xfrm>
          <a:prstGeom prst="rect">
            <a:avLst/>
          </a:prstGeom>
          <a:solidFill>
            <a:srgbClr val="0D0D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9601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63946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4630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3946"/>
                </a:solidFill>
              </a:rPr>
              <a:t>SELALU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01168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Latih berpikir kritis: tanyakan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>"Siapa yang buat ini? Apa tujuannya?"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126480"/>
            <a:ext cx="11274552" cy="64008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1996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D166"/>
                </a:solidFill>
              </a:rPr>
              <a:t>⚡  "AI won't replace you. A person using AI will."  —  Prinsip yang Harari &amp; Ng sama-sama akui kebenarannya.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D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30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301752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74320"/>
            <a:ext cx="5394960" cy="2194560"/>
          </a:xfrm>
          <a:prstGeom prst="rect">
            <a:avLst/>
          </a:prstGeom>
          <a:solidFill>
            <a:srgbClr val="1A0508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3A0A10"/>
                </a:solidFill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Siapa yang mengontrol AI,</a:t>
            </a:r>
          </a:p>
          <a:p>
            <a:pPr algn="l"/>
            <a:r>
              <a:rPr sz="1900" b="1" i="0">
                <a:solidFill>
                  <a:srgbClr val="FFFFFF"/>
                </a:solidFill>
              </a:rPr>
              <a:t>mengontrol masa depan.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63946"/>
                </a:solidFill>
              </a:rPr>
              <a:t>— Yuval Noah Harari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19672" y="274320"/>
            <a:ext cx="5394960" cy="2194560"/>
          </a:xfrm>
          <a:prstGeom prst="rect">
            <a:avLst/>
          </a:prstGeom>
          <a:solidFill>
            <a:srgbClr val="03142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914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31E2A"/>
                </a:solidFill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11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Siapa yang belajar AI,</a:t>
            </a:r>
          </a:p>
          <a:p>
            <a:pPr algn="l"/>
            <a:r>
              <a:rPr sz="1900" b="1" i="0">
                <a:solidFill>
                  <a:srgbClr val="FFFFFF"/>
                </a:solidFill>
              </a:rPr>
              <a:t>akan memimpin masa depan.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</a:rPr>
              <a:t>— Andrew 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D166"/>
                </a:solidFill>
              </a:rPr>
              <a:t>PESAN UNTUK KAMU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291840"/>
            <a:ext cx="5788152" cy="45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Jangan hanya jadi penonton AI.</a:t>
            </a:r>
          </a:p>
          <a:p>
            <a:pPr algn="ctr"/>
            <a:r>
              <a:rPr sz="2000" b="1" i="0">
                <a:solidFill>
                  <a:srgbClr val="FFFFFF"/>
                </a:solidFill>
              </a:rPr>
              <a:t>Jadi pemain yang cerdas, kritis, dan terus belajar.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4663440"/>
            <a:ext cx="2560320" cy="1645920"/>
          </a:xfrm>
          <a:prstGeom prst="rect">
            <a:avLst/>
          </a:prstGeom>
          <a:solidFill>
            <a:srgbClr val="14141E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E63946"/>
                </a:solidFill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486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3946"/>
                </a:solidFill>
              </a:rPr>
              <a:t>Berpikir
Kritis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4663440"/>
            <a:ext cx="2560320" cy="1645920"/>
          </a:xfrm>
          <a:prstGeom prst="rect">
            <a:avLst/>
          </a:prstGeom>
          <a:solidFill>
            <a:srgbClr val="14141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D166"/>
                </a:solidFill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486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166"/>
                </a:solidFill>
              </a:rPr>
              <a:t>Terus
Belajar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4663440"/>
            <a:ext cx="2560320" cy="1645920"/>
          </a:xfrm>
          <a:prstGeom prst="rect">
            <a:avLst/>
          </a:prstGeom>
          <a:solidFill>
            <a:srgbClr val="14141E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00B4D8"/>
                </a:solidFill>
              </a:rPr>
              <a:t>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486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Adaptasi
Aktif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#WebinarNasionalAI  |  Inovasi · Adaptasi · Kolaborasi  |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