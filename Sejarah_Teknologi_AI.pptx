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6EDF3"/>
                </a:solidFill>
              </a:rPr>
              <a:t>Sejarah Kerja,</a:t>
            </a:r>
          </a:p>
          <a:p>
            <a:pPr algn="l"/>
            <a:r>
              <a:rPr sz="5400" b="1" i="0">
                <a:solidFill>
                  <a:srgbClr val="E6EDF3"/>
                </a:solidFill>
              </a:rPr>
              <a:t>Belajar, Teknologi,</a:t>
            </a:r>
          </a:p>
          <a:p>
            <a:pPr algn="l"/>
            <a:r>
              <a:rPr sz="5400" b="1" i="0">
                <a:solidFill>
                  <a:srgbClr val="E6EDF3"/>
                </a:solidFill>
              </a:rPr>
              <a:t>dan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3B341"/>
                </a:solidFill>
              </a:rPr>
              <a:t>Kaitan Mesin Uap, Listrik, Komputer, Internet, dan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3B341"/>
                </a:solidFill>
              </a:rPr>
              <a:t>dengan Pendapat Para Ahli Dunia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0584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237744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Kerja &amp; Kebutuhan Hidup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5212080"/>
            <a:ext cx="237744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Revolusi Teknologi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5212080"/>
            <a:ext cx="237744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Dampak pada Pendidikan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5212080"/>
            <a:ext cx="237744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Pekerjaan di Era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Webinar Nasional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</a:rPr>
              <a:t>Alur Besar: Mengapa AI Ada?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Perjalanan dari kebutuhan manusia hingga lahirnya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alur_bes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11480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17720" y="1298448"/>
            <a:ext cx="7360920" cy="932688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298448"/>
            <a:ext cx="164592" cy="932688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34416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</a:rPr>
              <a:t>Kebutuhan Hidup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700784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Manusia memiliki kebutuhan dasar: makan, tempat tinggal, keamanan, dan makna sosial.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350008"/>
            <a:ext cx="7360920" cy="93268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350008"/>
            <a:ext cx="164592" cy="9326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2395727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Kerja sebagai Jawaban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752344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Kerja lahir sebagai cara manusia memenuhi kebutuhan dan berperan dalam masyarakat.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401568"/>
            <a:ext cx="7360920" cy="932688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401568"/>
            <a:ext cx="164592" cy="932688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3447287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Keterbatasan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803904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Tenaga dan waktu manusia terbatas, produksi tidak bisa terus ditingkatkan secara manual.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4453127"/>
            <a:ext cx="7360920" cy="932688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453127"/>
            <a:ext cx="164592" cy="93268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4498847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Teknologi sebagai Solusi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855464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Setiap era menciptakan alat baru: mesin uap → listrik → komputer → internet → AI.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5504688"/>
            <a:ext cx="7360920" cy="93268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5504688"/>
            <a:ext cx="164592" cy="93268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5550407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AI: Tahap Terbaru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5907024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AI berbeda karena bukan hanya membantu otot atau data, tetapi membantu kerja pikiran.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6D364"/>
                </a:solidFill>
              </a:rPr>
              <a:t>Mengapa Manusia Bekerja?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Kerja bukan hanya soal uang — ada makna yang lebih dalam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5146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6D364"/>
                </a:solidFill>
              </a:rPr>
              <a:t>🍚 Pangan &amp; 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325880"/>
            <a:ext cx="25146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64591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🏠 Tempat Tinggal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97480"/>
            <a:ext cx="25146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👕 Pakaian &amp; Kesehatan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697480"/>
            <a:ext cx="25146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C8CFF"/>
                </a:solidFill>
              </a:rPr>
              <a:t>🛡️ Keamanan &amp; Sosial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188720"/>
            <a:ext cx="6080760" cy="4572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26187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D364"/>
                </a:solidFill>
              </a:rPr>
              <a:t>Dimensi Makna Bekerja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19072"/>
            <a:ext cx="54864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874519"/>
            <a:ext cx="5715000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0391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</a:rPr>
              <a:t>💰 Ekonomi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02082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Menghasilkan uang untuk memenuhi kebutuhan hidup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834639"/>
            <a:ext cx="5715000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99923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</a:rPr>
              <a:t>🏅 Identitas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98094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Kerja membentuk siapa diri kita di masyarakat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794760"/>
            <a:ext cx="5715000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9593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</a:rPr>
              <a:t>🤝 Kontribusi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94106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Manusia butuh merasa berguna dan dibutuhkan orang lain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754880"/>
            <a:ext cx="5715000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91947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</a:rPr>
              <a:t>🌟 Makna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90118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Kerja memberi tujuan, arah, dan rasa pencapaian dalam hidup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72000"/>
            <a:ext cx="115671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6D364"/>
                </a:solidFill>
              </a:rPr>
              <a:t>💡  Inti: Kerja bukan hanya soal uang — kerja berkaitan dengan identitas, status sosial, kontribusi, dan makna hidup manusia.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1207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</a:rPr>
              <a:t>Kebutuhan Dasar Manusia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3B341"/>
                </a:solidFill>
              </a:rPr>
              <a:t>Timeline Revolusi Teknologi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Dari otot manusia hingga kecerdasan buatan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1175004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5394960"/>
            <a:ext cx="1175004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468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🔑  Pola Sejarah: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83387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Setiap era teknologi baru MENGGANTIKAN sebagian pekerjaan lama dan sekaligus MENCIPTAKAN jenis pekerjaan baru yang sebelumnya tidak ada. Pola ini berlaku dari mesin uap hingga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C8CFF"/>
                </a:solidFill>
              </a:rPr>
              <a:t>Apa yang Dibantu Setiap Teknologi?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AI adalah satu-satunya teknologi yang membantu kerja PIKIRAN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ai_vs_p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1175004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5120640"/>
            <a:ext cx="11750040" cy="1508760"/>
          </a:xfrm>
          <a:prstGeom prst="rect">
            <a:avLst/>
          </a:prstGeom>
          <a:solidFill>
            <a:srgbClr val="1E0F2E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1937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⚡  Mengapa AI Berbeda?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62356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Mesin uap, listrik, komputer, dan internet membantu manusia bekerja LEBIH CEPAT atau mengakses informasi LEBIH MUDAH.</a:t>
            </a:r>
          </a:p>
          <a:p>
            <a:pPr algn="l"/>
            <a:r>
              <a:rPr sz="1150" b="0" i="0">
                <a:solidFill>
                  <a:srgbClr val="E6EDF3"/>
                </a:solidFill>
              </a:rPr>
              <a:t>AI adalah pertama kalinya teknologi membantu manusia BERPIKIR, MENULIS, MENGANALISIS, dan MENGAMBIL KEPUTUSAN — kerja kognitif yang selama ini dianggap eksklusif milik manusia.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8166"/>
                </a:solidFill>
              </a:rPr>
              <a:t>Dampak Teknologi pada Jenis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Dari kerja fisik ke kerja kognitif — AI masuk paling dalam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repla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1175004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5468112"/>
            <a:ext cx="1175004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541264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📌  Komputer mulai masuk ke kerja kognitif (65%), internet memperdalam (80%), dan AI menembus hampir semua lapisan kerja berpikir (90%).</a:t>
            </a:r>
          </a:p>
          <a:p>
            <a:pPr algn="l"/>
            <a:r>
              <a:rPr sz="1150" b="0" i="0">
                <a:solidFill>
                  <a:srgbClr val="E6EDF3"/>
                </a:solidFill>
              </a:rPr>
              <a:t>Pola sejarah ini menunjukkan: setiap teknologi baru selalu menggeser batas kemampuan mesin lebih jauh ke dalam wilayah yang tadinya hanya bisa dilakukan manusia.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8166"/>
                </a:solidFill>
              </a:rPr>
              <a:t>Mesin Uap &amp; Listrik: Revolusi Tenaga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Era pertama di mana mesin menggantikan otot manusia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715000" cy="5349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571500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3167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8166"/>
                </a:solidFill>
              </a:rPr>
              <a:t>Mesin Uap
(1760s)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737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Revolusi Industri Pertama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2121408"/>
            <a:ext cx="5257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286000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505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Tenaga otot mulai digantikan mesin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310128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Pabrik dapat produksi lebih cepat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4334256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498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Kereta &amp; kapal uap percepat transportasi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5358384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5229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Lahir: operator mesin, mekanik, insinyur pabrik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61872"/>
            <a:ext cx="5715000" cy="534924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261872"/>
            <a:ext cx="571500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3167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3B341"/>
                </a:solidFill>
              </a:rPr>
              <a:t>Listrik
(1880s)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737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Revolusi Industri Kedua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2121408"/>
            <a:ext cx="5257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9088" y="2286000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4505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Lampu: aktivitas melampaui siang hari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10128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474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Motor listrik gantikan mesin uap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19088" y="4334256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4498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Telegraf &amp; telepon percepat komunikasi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5358384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5229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Lahir: teknisi listrik, operator telepon, akuntan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</a:rPr>
              <a:t>Komputer &amp; Internet: Revolusi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Mesin mulai masuk ke wilayah kerja pikiran manusia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715000" cy="5349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571500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3167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8A6FF"/>
                </a:solidFill>
              </a:rPr>
              <a:t>Komputer
(1950s–)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737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Mesin Bantu Pikiran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2121408"/>
            <a:ext cx="5257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286000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505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Pekerjaan hitung &amp; ketik jauh lebih cepat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310128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Pekerjaan kantor berubah besar-besaran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4334256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498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Yang bisa pakai komputer jadi lebih unggul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5358384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5229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Pola: tidak bisa komputer = TERTINGGAL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61872"/>
            <a:ext cx="5715000" cy="5349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261872"/>
            <a:ext cx="571500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3167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6D364"/>
                </a:solidFill>
              </a:rPr>
              <a:t>Internet
(1990s–)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737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Informasi Terbuka untuk Semua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2121408"/>
            <a:ext cx="5257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9088" y="2286000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4505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Info tidak lagi hanya di sekolah &amp; buku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10128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474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Guru bukan satu-satunya sumber pengetahuan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19088" y="4334256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4498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Manusia bisa belajar dari mana saja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5358384"/>
            <a:ext cx="5230368" cy="84124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5229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→  Peran guru bergeser → pembimbing cara berpikir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967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Pola Sejarah:  tidak bisa komputer → tertinggal  |  sekarang: tidak pakai AI → berisiko tertinggal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C8CFF"/>
                </a:solidFill>
              </a:rPr>
              <a:t>AI: Tahap Terbaru dalam Sejarah Teknologi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Yang pertama kali membantu kerja KOGNITIF manusia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1031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6187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8166"/>
                </a:solidFill>
              </a:rPr>
              <a:t>Mesin Uap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719072"/>
            <a:ext cx="18745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Tenaga
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181051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188720"/>
            <a:ext cx="21031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126187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Listrik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719072"/>
            <a:ext cx="18745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Energi
Cepat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81051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79" y="1188720"/>
            <a:ext cx="21031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7" y="126187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Komputer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1719072"/>
            <a:ext cx="18745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Data &amp;
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81051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199" y="1188720"/>
            <a:ext cx="21031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126187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6D364"/>
                </a:solidFill>
              </a:rPr>
              <a:t>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1719072"/>
            <a:ext cx="18745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Akses
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181051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19" y="1188720"/>
            <a:ext cx="21031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7" y="126187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C8CFF"/>
                </a:solidFill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7" y="1719072"/>
            <a:ext cx="187451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Berpikir
&amp; Belajar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743200"/>
            <a:ext cx="11567160" cy="2743200"/>
          </a:xfrm>
          <a:prstGeom prst="rect">
            <a:avLst/>
          </a:prstGeom>
          <a:solidFill>
            <a:srgbClr val="1E1030"/>
          </a:solidFill>
          <a:ln w="317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816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C8CFF"/>
                </a:solidFill>
              </a:rPr>
              <a:t>Mengapa AI Berbeda dari Semua Teknologi Sebelumnya?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01568"/>
            <a:ext cx="5486400" cy="868680"/>
          </a:xfrm>
          <a:prstGeom prst="rect">
            <a:avLst/>
          </a:prstGeom>
          <a:solidFill>
            <a:srgbClr val="0D1117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401568"/>
            <a:ext cx="128016" cy="86868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Membantu BERPIKIR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130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AI bisa menganalisis data kompleks, membuat koneksi, dan menarik kesimpulan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401568"/>
            <a:ext cx="5486400" cy="868680"/>
          </a:xfrm>
          <a:prstGeom prst="rect">
            <a:avLst/>
          </a:prstGeom>
          <a:solidFill>
            <a:srgbClr val="0D1117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401568"/>
            <a:ext cx="128016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Membantu MENULIS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130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AI menghasilkan teks, laporan, esai, kode program, dan konten kreatif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407408"/>
            <a:ext cx="5486400" cy="868680"/>
          </a:xfrm>
          <a:prstGeom prst="rect">
            <a:avLst/>
          </a:prstGeom>
          <a:solidFill>
            <a:srgbClr val="0D1117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407408"/>
            <a:ext cx="128016" cy="8686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62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Membantu BELAJAR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18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AI menjelaskan konsep secara personal, interaktif, dan sesuai kecepatan belajar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407408"/>
            <a:ext cx="5486400" cy="868680"/>
          </a:xfrm>
          <a:prstGeom prst="rect">
            <a:avLst/>
          </a:prstGeom>
          <a:solidFill>
            <a:srgbClr val="0D1117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407408"/>
            <a:ext cx="128016" cy="86868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462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Membantu MEMUTUSKAN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818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AI memberikan rekomendasi berbasis data untuk pengambilan keputusan lebih baik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6D364"/>
                </a:solidFill>
              </a:rPr>
              <a:t>Pendidikan: Sebelum AI vs Setelah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Pergeseran dari pendidikan massal ke pembelajaran personal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edu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1175004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5925312"/>
            <a:ext cx="11750040" cy="749808"/>
          </a:xfrm>
          <a:prstGeom prst="rect">
            <a:avLst/>
          </a:prstGeom>
          <a:solidFill>
            <a:srgbClr val="0F1F15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998464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6D364"/>
                </a:solidFill>
              </a:rPr>
              <a:t>💡  Internet membuka akses informasi, tetapi AI membuat informasi dapat dijelaskan secara personal dan interaktif — persis seperti memiliki tutor pribadi yang sabar, tersedia 24/7, dan tidak menghakimi.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1175004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d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88720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4208" y="228600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</a:rPr>
              <a:t>Andrew 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77724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Pendiri DeepLearning.AI &amp; Coursera  ·  Stanford University</a:t>
            </a:r>
          </a:p>
          <a:p>
            <a:pPr algn="l"/>
            <a:r>
              <a:rPr sz="1200" b="0" i="0">
                <a:solidFill>
                  <a:srgbClr val="8B949E"/>
                </a:solidFill>
              </a:rPr>
              <a:t>Co-founder Google Brain  ·  Mengajar 8 juta+ pelajar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64208"/>
            <a:ext cx="11750040" cy="224028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664208"/>
            <a:ext cx="201168" cy="22402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755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AI &amp; Listrik — Pekerjaan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194560"/>
            <a:ext cx="109728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322576"/>
            <a:ext cx="10972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6EDF3"/>
                </a:solidFill>
              </a:rPr>
              <a:t>"AI is the new electricity. Just as electricity transformed almost</a:t>
            </a:r>
          </a:p>
          <a:p>
            <a:pPr algn="l"/>
            <a:r>
              <a:rPr sz="1400" b="0" i="1">
                <a:solidFill>
                  <a:srgbClr val="E6EDF3"/>
                </a:solidFill>
              </a:rPr>
              <a:t>everything 100 years ago, today I actually have a hard time thinking</a:t>
            </a:r>
          </a:p>
          <a:p>
            <a:pPr algn="l"/>
            <a:r>
              <a:rPr sz="1400" b="0" i="1">
                <a:solidFill>
                  <a:srgbClr val="E6EDF3"/>
                </a:solidFill>
              </a:rPr>
              <a:t>of an industry that I don't think AI will transform."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5661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Stanford GSB / Live Mint,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087368"/>
            <a:ext cx="11750040" cy="2240280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4087368"/>
            <a:ext cx="201168" cy="22402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17880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D364"/>
                </a:solidFill>
              </a:rPr>
              <a:t>AI Redefine Guru — Pendidikan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617720"/>
            <a:ext cx="109728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745736"/>
            <a:ext cx="10972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6EDF3"/>
                </a:solidFill>
              </a:rPr>
              <a:t>"AI is helping redefine what it means to be a great teacher."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989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Business Insider, April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6537960"/>
            <a:ext cx="11750040" cy="228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5624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Inti: AI bukan pengganti manusia — AI adalah senjata bagi yang mau belajar dan beradaptasi.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11750040" cy="137160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28600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B341"/>
                </a:solidFill>
              </a:rPr>
              <a:t>Jensen Huang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CEO NVIDIA  ·  Salah satu pemimpin industri AI paling berpengaruh</a:t>
            </a:r>
          </a:p>
          <a:p>
            <a:pPr algn="l"/>
            <a:r>
              <a:rPr sz="1200" b="0" i="0">
                <a:solidFill>
                  <a:srgbClr val="8B949E"/>
                </a:solidFill>
              </a:rPr>
              <a:t>NVIDIA: perusahaan chip AI senilai $3+ triliun (2025)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6420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664208"/>
            <a:ext cx="182880" cy="150876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AI &amp; Pekerjaan — Peringatan 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"Every job will be affected, and immediately. It is unquestionable.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You're not going to lose your job to an AI, but you're going to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lose your job to someone who uses AI."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9864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CNBC, 28 Mei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31012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310128"/>
            <a:ext cx="182880" cy="150876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</a:rPr>
              <a:t>AI Tutor — Pendidikan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13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"If there's one thing I would encourage everybody to do,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go get yourself an AI tutor right away."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CNBC, Februari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95604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956048"/>
            <a:ext cx="182880" cy="1508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Setiap Lulusan Harus Kuasai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5896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"Every college student should graduate and be an expert in AI.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This skill could determine whether someone secures a job or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struggles in an AI-driven economy."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9048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Money Control,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6537960"/>
            <a:ext cx="11750040" cy="2286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5624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Inti: Yang kalah bukan orang yang digantikan AI — melainkan orang yang TIDAK menggunakan 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11750040" cy="137160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28600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8166"/>
                </a:solidFill>
              </a:rPr>
              <a:t>Elon Musk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CEO Tesla, SpaceX, X  ·  Salah satu pendiri OpenAI (kemudian keluar)</a:t>
            </a:r>
          </a:p>
          <a:p>
            <a:pPr algn="l"/>
            <a:r>
              <a:rPr sz="1200" b="0" i="0">
                <a:solidFill>
                  <a:srgbClr val="8B949E"/>
                </a:solidFill>
              </a:rPr>
              <a:t>Tokoh paling vokal soal dampak AI pada masa depan pekerjaan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6420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664208"/>
            <a:ext cx="182880" cy="150876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Pekerjaan Menjadi Opsional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"In a benign scenario, probably none of us will have a job.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But in that benign scenario there will be universal high income —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not universal base income — there will be no shortage of goods or services."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9864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VivaTech 2024, Paris — Fortune, Mei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31012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310128"/>
            <a:ext cx="182880" cy="150876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Universal Basic Income (UBI)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13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"I think we'll end up doing universal basic income. It's going to be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necessary. There will be fewer and fewer jobs that a robot cannot do better.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These are not things I wish will happen — these are things I think probably will happen."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Business Insider, Juni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95604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956048"/>
            <a:ext cx="182880" cy="15087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Kerja Jadi Pilihan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5896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"My prediction is that work will be optional."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9048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U.S.-Saudi Investment Forum, Washington — Fortune, Januari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6537960"/>
            <a:ext cx="11750040" cy="2286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5624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Inti: Jika AI membuat manusia tidak wajib bekerja, sistem ekonomi perlu menyiapkan UBI.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11750040" cy="1371600"/>
          </a:xfrm>
          <a:prstGeom prst="rect">
            <a:avLst/>
          </a:prstGeom>
          <a:solidFill>
            <a:srgbClr val="1A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88720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4208" y="22860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6B"/>
                </a:solidFill>
              </a:rPr>
              <a:t>Yuval Noah Harari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777240"/>
            <a:ext cx="9875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Sejarawan &amp; Penulis  ·  Hebrew University Jerusalem</a:t>
            </a:r>
          </a:p>
          <a:p>
            <a:pPr algn="l"/>
            <a:r>
              <a:rPr sz="1200" b="0" i="0">
                <a:solidFill>
                  <a:srgbClr val="8B949E"/>
                </a:solidFill>
              </a:rPr>
              <a:t>Buku: Sapiens (2011), Homo Deus (2016), 21 Lessons (2018), Nexus (2024)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6420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664208"/>
            <a:ext cx="182880" cy="1508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AI Masuk Sistem Berbasis Bahasa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6712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"If laws are made of words, then AI will take over the legal system.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If books are just combinations of words, then AI will take over books.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If religion is built from words, then AI will take over religion."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9864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Davos / WEF, dikutip Newsweek, Januari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31012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310128"/>
            <a:ext cx="182880" cy="150876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AI &amp; Akselerasi Tanpa Henti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13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"AI is a knife that can invent new kinds of knives as well as new kinds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of music, medicine and money. The point is not just novelty. It is acceleration."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Davos 2026, dikutip Forbes, Januari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956048"/>
            <a:ext cx="11750040" cy="1508760"/>
          </a:xfrm>
          <a:prstGeom prst="rect">
            <a:avLst/>
          </a:prstGeom>
          <a:solidFill>
            <a:srgbClr val="161B22"/>
          </a:solidFill>
          <a:ln w="2286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4956048"/>
            <a:ext cx="182880" cy="15087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292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Manfaatnya akan terasa dalam 200 tahun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5896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EDF3"/>
                </a:solidFill>
              </a:rPr>
              <a:t>"AI's true impact will unfold over 200 years.</a:t>
            </a:r>
          </a:p>
          <a:p>
            <a:pPr algn="l"/>
            <a:r>
              <a:rPr sz="1300" b="0" i="1">
                <a:solidFill>
                  <a:srgbClr val="E6EDF3"/>
                </a:solidFill>
              </a:rPr>
              <a:t>Judging AI on short-term progress badly misunderstands its scale and risks."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9048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949E"/>
                </a:solidFill>
              </a:rPr>
              <a:t>— Business Insider, Januari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537960"/>
            <a:ext cx="11750040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5624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Inti: AI sangat kuat karena manusia membangun peradaban dengan BAHASA — dan AI menguasai bahasa.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6D364"/>
                </a:solidFill>
              </a:rPr>
              <a:t>Para Ahli tentang AI &amp; Pendidikan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Sepakat: AI adalah transformasi terbesar pendidikan sepanjang sejarah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3822191" cy="5349240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3822191" cy="822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4416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6D364"/>
                </a:solidFill>
              </a:rPr>
              <a:t>Sal Khan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556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Pendiri Khan Academy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3401568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12848"/>
            <a:ext cx="3520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E6EDF3"/>
                </a:solidFill>
              </a:rPr>
              <a:t>"We're at the cusp of using AI for probably the biggest positive</a:t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>transformation that education has ever seen."</a:t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/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>"AI in the classroom will be like having four or five helpful</a:t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>grad students — acting as teachers' assistants."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440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8B949E"/>
                </a:solidFill>
              </a:rPr>
              <a:t>— TED Talk 2023 &amp; Business Insider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280160"/>
            <a:ext cx="3822191" cy="53492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280160"/>
            <a:ext cx="3822191" cy="822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34416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Bill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17556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Co-founder Microsoft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1688" y="2103120"/>
            <a:ext cx="3401568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212848"/>
            <a:ext cx="3520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E6EDF3"/>
                </a:solidFill>
              </a:rPr>
              <a:t>"The AI will be like a great high school teacher who really</a:t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>marks your essay, and you go back and think:</a:t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>'OK, I need to step up there.'"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5440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8B949E"/>
                </a:solidFill>
              </a:rPr>
              <a:t>— CNBC, Agustus 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280160"/>
            <a:ext cx="3822191" cy="53492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280160"/>
            <a:ext cx="3822191" cy="822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134416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C8CFF"/>
                </a:solidFill>
              </a:rPr>
              <a:t>Sam Altman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17556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CEO OpenAI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7616" y="2103120"/>
            <a:ext cx="3401568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2212848"/>
            <a:ext cx="3520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E6EDF3"/>
                </a:solidFill>
              </a:rPr>
              <a:t>"Our children will have virtual tutors who can provide personalized</a:t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>instruction in any subject, in any language, and at whatever pace</a:t>
            </a:r>
          </a:p>
          <a:p>
            <a:pPr algn="l"/>
            <a:r>
              <a:rPr sz="1150" b="0" i="1">
                <a:solidFill>
                  <a:srgbClr val="E6EDF3"/>
                </a:solidFill>
              </a:rPr>
              <a:t>they need."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5440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8B949E"/>
                </a:solidFill>
              </a:rPr>
              <a:t>— samaltman.com — The Intelligence Age, September 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6537960"/>
            <a:ext cx="11750040" cy="22860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5624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Sepakat: AI tutor personal untuk semua siswa — demokratisasi pendidikan terbesar dalam sejarah.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8166"/>
                </a:solidFill>
              </a:rPr>
              <a:t>Alur Pekerjaan Menurut Para Ahli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Dari sejarah teknologi hingga prediksi masa depan pekerjaan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work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11750040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4773168"/>
            <a:ext cx="2816352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4773168"/>
            <a:ext cx="2816352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481888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Andrew 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5248656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AI adalah senjata bagi yang mau belajar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4773168"/>
            <a:ext cx="2816352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4773168"/>
            <a:ext cx="2816352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481888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Jensen Huang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5248656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Yang tertinggal = yang tidak pakai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4773168"/>
            <a:ext cx="2816352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4773168"/>
            <a:ext cx="2816352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481888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Yuval Harari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5248656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AI masuk sistem berbasis bahasa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4773168"/>
            <a:ext cx="2816352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4773168"/>
            <a:ext cx="2816352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481888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Elon Musk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5248656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Pekerjaan bisa jadi opsional + UBI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6D364"/>
                </a:solidFill>
              </a:rPr>
              <a:t>Alur Pendidikan Menurut Para Ahli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Konsensus: AI = transformasi personal terbesar dalam sejarah pendidikan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edu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11750040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4736592"/>
            <a:ext cx="2212848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4736592"/>
            <a:ext cx="2212848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7823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Andrew 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12080"/>
            <a:ext cx="2048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AI definisikan ulang</a:t>
            </a:r>
          </a:p>
          <a:p>
            <a:pPr algn="l"/>
            <a:r>
              <a:rPr sz="1150" b="0" i="0">
                <a:solidFill>
                  <a:srgbClr val="E6EDF3"/>
                </a:solidFill>
              </a:rPr>
              <a:t>arti guru hebat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4736592"/>
            <a:ext cx="2212848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7752" y="4736592"/>
            <a:ext cx="2212848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47823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Jensen Huang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5212080"/>
            <a:ext cx="2048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Segera gunakan</a:t>
            </a:r>
          </a:p>
          <a:p>
            <a:pPr algn="l"/>
            <a:r>
              <a:rPr sz="1150" b="0" i="0">
                <a:solidFill>
                  <a:srgbClr val="E6EDF3"/>
                </a:solidFill>
              </a:rPr>
              <a:t>AI tutor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6904" y="4736592"/>
            <a:ext cx="2212848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6904" y="4736592"/>
            <a:ext cx="2212848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8344" y="47823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Bill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5212080"/>
            <a:ext cx="2048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AI tutor = sebaik</a:t>
            </a:r>
          </a:p>
          <a:p>
            <a:pPr algn="l"/>
            <a:r>
              <a:rPr sz="1150" b="0" i="0">
                <a:solidFill>
                  <a:srgbClr val="E6EDF3"/>
                </a:solidFill>
              </a:rPr>
              <a:t>guru terbaik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6056" y="4736592"/>
            <a:ext cx="2212848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6056" y="4736592"/>
            <a:ext cx="2212848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47823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Sal Khan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5212080"/>
            <a:ext cx="2048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Transformasi</a:t>
            </a:r>
          </a:p>
          <a:p>
            <a:pPr algn="l"/>
            <a:r>
              <a:rPr sz="1150" b="0" i="0">
                <a:solidFill>
                  <a:srgbClr val="E6EDF3"/>
                </a:solidFill>
              </a:rPr>
              <a:t>terbesar pendidikan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65208" y="4736592"/>
            <a:ext cx="2212848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65208" y="4736592"/>
            <a:ext cx="2212848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47823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Sam Altman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5212080"/>
            <a:ext cx="2048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Generasi paling</a:t>
            </a:r>
          </a:p>
          <a:p>
            <a:pPr algn="l"/>
            <a:r>
              <a:rPr sz="1150" b="0" i="0">
                <a:solidFill>
                  <a:srgbClr val="E6EDF3"/>
                </a:solidFill>
              </a:rPr>
              <a:t>beruntung sejarah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C8CFF"/>
                </a:solidFill>
              </a:rPr>
              <a:t>Pendapat Para Ahli — Ringkasan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5 tokoh global tentang AI, pekerjaan, dan pendidikan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expert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11750040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4709160"/>
            <a:ext cx="1175004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754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Tokoh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754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Tentang Pekerjaan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54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Tentang Pendidikan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148072"/>
            <a:ext cx="11612880" cy="2743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5212080"/>
            <a:ext cx="11750040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2486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Andrew 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2486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AI = senjata bagi pelajar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2486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AI definisikan ulang guru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550408"/>
            <a:ext cx="11750040" cy="3200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5869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Jensen Huang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5869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Tidak pakai AI = tertinggal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5869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Segera pakai AI tutor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888736"/>
            <a:ext cx="11750040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9253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166"/>
                </a:solidFill>
              </a:rPr>
              <a:t>Elon Musk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9253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Kerja akan opsional, perlu UBI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9253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6227064"/>
            <a:ext cx="11750040" cy="3200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263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Yuval Harari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2636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AI masuk sistem berbasis bahasa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62636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Literasi kritis sangat penting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6565392"/>
            <a:ext cx="11750040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</a:rPr>
              <a:t>Sal Khan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660196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660196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Transformasi terbesar pendidikan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11696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3B341"/>
                </a:solidFill>
              </a:rPr>
              <a:t>Bagan Besar: Manusia → Teknologi → Adaptasi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Satu alur utuh dari kebutuhan hingga era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36576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ist_meg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7388352" cy="5486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032" y="1298448"/>
            <a:ext cx="411480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298448"/>
            <a:ext cx="164592" cy="117043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D364"/>
                </a:solidFill>
              </a:rPr>
              <a:t>Akar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73936"/>
            <a:ext cx="3566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Kebutuhan hidup mendorong manusia untuk bekerja sejak zaman purba.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624328"/>
            <a:ext cx="411480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2624328"/>
            <a:ext cx="164592" cy="1170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Pola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99816"/>
            <a:ext cx="3566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Setiap era teknologi menciptakan pekerjaan baru yang lebih kompleks.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950208"/>
            <a:ext cx="411480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950208"/>
            <a:ext cx="164592" cy="117043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25696"/>
            <a:ext cx="3566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AI bukan awal baru — ia adalah kelanjutan dari pola panjang ini.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5276088"/>
            <a:ext cx="411480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5276088"/>
            <a:ext cx="164592" cy="117043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Tugas kita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51575"/>
            <a:ext cx="3566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Belajar ulang, beradaptasi, dan memastikan manusia tetap memimpin 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3B341"/>
                </a:solidFill>
              </a:rPr>
              <a:t>Kesimpulan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822960"/>
            <a:ext cx="9445752" cy="457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21031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241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8166"/>
                </a:solidFill>
              </a:rPr>
              <a:t>Mesin Uap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4356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Tenaga Fisik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44475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960120"/>
            <a:ext cx="21031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0241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3B341"/>
                </a:solidFill>
              </a:rPr>
              <a:t>Listrik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4356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Energi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44475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960120"/>
            <a:ext cx="21031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10241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</a:rPr>
              <a:t>Komputer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4356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144475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199" y="960120"/>
            <a:ext cx="21031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10241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6D364"/>
                </a:solidFill>
              </a:rPr>
              <a:t>Internet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14356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Informasi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144475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19" y="960120"/>
            <a:ext cx="210312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7" y="10241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C8CFF"/>
                </a:solidFill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7" y="14356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Kerja Pikiran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31720"/>
            <a:ext cx="5715000" cy="1993392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331720"/>
            <a:ext cx="5715000" cy="5120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331720"/>
            <a:ext cx="182880" cy="19933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4231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AI adalah Kelanjutan Sejarah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926079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AI bukan revolusi yang datang tiba-tiba. Ia adalah bagian dari pola panjang teknologi yang selalu mengubah cara manusia bekerja dan belajar.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331720"/>
            <a:ext cx="5715000" cy="1993392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2331720"/>
            <a:ext cx="5715000" cy="5120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2331720"/>
            <a:ext cx="182880" cy="1993392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24231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D364"/>
                </a:solidFill>
              </a:rPr>
              <a:t>Bukan Ancaman, Tapi Alat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926079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Menurut para ahli, AI adalah alat yang memperkuat manusia — terutama bagi mereka yang mau belajar dan beradaptasi.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80560"/>
            <a:ext cx="5715000" cy="1993392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480560"/>
            <a:ext cx="5715000" cy="5120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480560"/>
            <a:ext cx="182880" cy="199339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5720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Pendidikan Harus Berevolusi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74920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AI memungkinkan setiap siswa memiliki tutor personal. Sistem pendidikan perlu menyesuaikan diri dengan realitas ini.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4480560"/>
            <a:ext cx="5715000" cy="1993392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4480560"/>
            <a:ext cx="5715000" cy="5120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45352" y="4480560"/>
            <a:ext cx="182880" cy="199339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45720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C8CFF"/>
                </a:solidFill>
              </a:rPr>
              <a:t>Manusia Harus Tetap Memimpin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9672" y="5074920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AI adalah alat. Manusia yang menentukan tujuan, nilai, dan arah penggunaannya. Berpikir kritis tetap menjadi kompetensi utama.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473952"/>
            <a:ext cx="11640312" cy="274320"/>
          </a:xfrm>
          <a:prstGeom prst="rect">
            <a:avLst/>
          </a:prstGeom>
          <a:solidFill>
            <a:srgbClr val="1A1400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01384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E3B341"/>
                </a:solidFill>
              </a:rPr>
              <a:t>"Menurut para ahli, AI bukan sekadar ancaman — AI adalah alat besar yang dapat memperkuat manusia bagi mereka yang mau belajar, memakai AI, dan beradaptasi."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