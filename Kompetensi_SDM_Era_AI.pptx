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9445752" cy="5120640"/>
          </a:xfrm>
          <a:prstGeom prst="rect">
            <a:avLst/>
          </a:prstGeom>
          <a:solidFill>
            <a:srgbClr val="0D0D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005840"/>
            <a:ext cx="3959352" cy="475488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005840"/>
            <a:ext cx="3959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🎓  KOMPETENSI SDM ERA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90799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SDM UNGGUL</a:t>
            </a:r>
          </a:p>
          <a:p>
            <a:pPr algn="ctr"/>
            <a:r>
              <a:rPr sz="4400" b="1" i="0">
                <a:solidFill>
                  <a:srgbClr val="FFFFFF"/>
                </a:solidFill>
              </a:rPr>
              <a:t>DI ERA KECERDASAN BUATAN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03320"/>
            <a:ext cx="9079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D166"/>
                </a:solidFill>
              </a:rPr>
              <a:t>5 Pilar Kompetensi &amp; Tantangan Pendidikan Indonesia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389120"/>
            <a:ext cx="14630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AAAA"/>
                </a:solidFill>
              </a:rPr>
              <a:t>Foundational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389120"/>
            <a:ext cx="14630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AAAA"/>
                </a:solidFill>
              </a:rPr>
              <a:t>Digital-AI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389120"/>
            <a:ext cx="14630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AAAA"/>
                </a:solidFill>
              </a:rPr>
              <a:t>Cognitive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4389120"/>
            <a:ext cx="14630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79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AAAA"/>
                </a:solidFill>
              </a:rPr>
              <a:t>Human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389120"/>
            <a:ext cx="1463040" cy="1005840"/>
          </a:xfrm>
          <a:prstGeom prst="rect">
            <a:avLst/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9194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AAAA"/>
                </a:solidFill>
              </a:rPr>
              <a:t>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2025  |  Inovasi · Adaptasi · Kolaborasi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166"/>
                </a:solidFill>
              </a:rPr>
              <a:t>5 PILAR KOMPETENSI SDM ERA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AA"/>
                </a:solidFill>
              </a:rPr>
              <a:t>Kompetensi yang harus dimiliki setiap individu untuk bertahan &amp; berkembang di era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212848" cy="521208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212848" cy="59436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2618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🔤 FOUNDATIONAL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6596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Literasi · Numerasi</a:t>
            </a:r>
          </a:p>
          <a:p>
            <a:pPr algn="ctr"/>
            <a:r>
              <a:rPr sz="1250" b="1" i="0">
                <a:solidFill>
                  <a:srgbClr val="FFFFFF"/>
                </a:solidFill>
              </a:rPr>
              <a:t>Sains · Bahasa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342900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66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Fondasi belajar semua hal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6355080"/>
            <a:ext cx="2212848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234440"/>
            <a:ext cx="2212848" cy="521208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33472" y="1234440"/>
            <a:ext cx="2212848" cy="59436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26187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2618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</a:rPr>
              <a:t>💻 DIGITAL-AI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6596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AI Literacy · Data</a:t>
            </a:r>
          </a:p>
          <a:p>
            <a:pPr algn="ctr"/>
            <a:r>
              <a:rPr sz="1250" b="1" i="0">
                <a:solidFill>
                  <a:srgbClr val="FFFFFF"/>
                </a:solidFill>
              </a:rPr>
              <a:t>Prompting · Cybersecurity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342900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3566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Navigasi dunia digital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6355080"/>
            <a:ext cx="2212848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92624" y="1234440"/>
            <a:ext cx="2212848" cy="5212080"/>
          </a:xfrm>
          <a:prstGeom prst="rect">
            <a:avLst/>
          </a:prstGeom>
          <a:solidFill>
            <a:srgbClr val="1414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92624" y="1234440"/>
            <a:ext cx="2212848" cy="59436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126187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12618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2FBE"/>
                </a:solidFill>
              </a:rPr>
              <a:t>🧠 COGNITIVE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196596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Kritis · Analitis</a:t>
            </a:r>
          </a:p>
          <a:p>
            <a:pPr algn="ctr"/>
            <a:r>
              <a:rPr sz="1250" b="1" i="0">
                <a:solidFill>
                  <a:srgbClr val="FFFFFF"/>
                </a:solidFill>
              </a:rPr>
              <a:t>Kreatif · Problem Solving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342900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566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Berpikir di level tinggi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92624" y="6355080"/>
            <a:ext cx="2212848" cy="914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51776" y="1234440"/>
            <a:ext cx="2212848" cy="521208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51776" y="1234440"/>
            <a:ext cx="2212848" cy="59436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4928" y="126187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12618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35"/>
                </a:solidFill>
              </a:rPr>
              <a:t>🤝 HUMAN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196596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Komunikasi · Empati</a:t>
            </a:r>
          </a:p>
          <a:p>
            <a:pPr algn="ctr"/>
            <a:r>
              <a:rPr sz="1250" b="1" i="0">
                <a:solidFill>
                  <a:srgbClr val="FFFFFF"/>
                </a:solidFill>
              </a:rPr>
              <a:t>Kolaborasi · Kepemimpinan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88936" y="342900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3566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Kelebihan manusia atas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51776" y="6355080"/>
            <a:ext cx="2212848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10928" y="1234440"/>
            <a:ext cx="2212848" cy="5212080"/>
          </a:xfrm>
          <a:prstGeom prst="rect">
            <a:avLst/>
          </a:prstGeom>
          <a:solidFill>
            <a:srgbClr val="14141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0928" y="1234440"/>
            <a:ext cx="2212848" cy="59436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126187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0656" y="1261872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76F"/>
                </a:solidFill>
              </a:rPr>
              <a:t>⚖️ ADAPTIVE-ETHIC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0656" y="196596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Lifelong Learning</a:t>
            </a:r>
          </a:p>
          <a:p>
            <a:pPr algn="ctr"/>
            <a:r>
              <a:rPr sz="1250" b="1" i="0">
                <a:solidFill>
                  <a:srgbClr val="FFFFFF"/>
                </a:solidFill>
              </a:rPr>
              <a:t>Etika AI · Resiliensi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48088" y="342900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0656" y="3566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</a:rPr>
              <a:t>Bertumbuh &amp; bertanggung jawab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10928" y="6355080"/>
            <a:ext cx="2212848" cy="914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💻  DIGITAL-AI SKILLS  —  Fondasi Era Baru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31520"/>
            <a:ext cx="1143000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96112"/>
            <a:ext cx="2212848" cy="53949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D8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AI LITERACY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37744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514600"/>
            <a:ext cx="1993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Siswa memahami cara kerja,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batasan, dan risiko AI.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Bukan sekadar pengguna pasif.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896112"/>
            <a:ext cx="2212848" cy="539496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1" y="960120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6D6A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69164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DATA LITERACY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0632" y="237744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514600"/>
            <a:ext cx="1993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Mampu membaca, menafsirkan,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dan memvalidasi data.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Tidak mudah dibohongi statistik.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896112"/>
            <a:ext cx="2212848" cy="539496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960120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D166"/>
                </a:solidFill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69164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PROMPTING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9784" y="237744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2514600"/>
            <a:ext cx="1993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Seni berkomunikasi dengan AI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untuk hasil optimal.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Kualitas output = kualitas input.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896112"/>
            <a:ext cx="2212848" cy="5394960"/>
          </a:xfrm>
          <a:prstGeom prst="rect">
            <a:avLst/>
          </a:prstGeom>
          <a:solidFill>
            <a:srgbClr val="14141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960120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F476F"/>
                </a:solidFill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169164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</a:rPr>
              <a:t>CYBERSECURITY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237744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2514600"/>
            <a:ext cx="1993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Menjaga identitas, privasi,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dan keamanan digital.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Sadar ancaman siber sehari-hari.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0928" y="896112"/>
            <a:ext cx="2212848" cy="539496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960120"/>
            <a:ext cx="21214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69164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COMPUTATIONAL</a:t>
            </a:r>
          </a:p>
          <a:p>
            <a:pPr algn="ctr"/>
            <a:r>
              <a:rPr sz="1200" b="1" i="0">
                <a:solidFill>
                  <a:srgbClr val="FF6B35"/>
                </a:solidFill>
              </a:rPr>
              <a:t>THINKING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48088" y="2377440"/>
            <a:ext cx="19385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0656" y="2514600"/>
            <a:ext cx="19933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Memecah masalah kompleks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menjadi langkah logis.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Berpikir seperti programmer.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400800"/>
            <a:ext cx="11430000" cy="347472"/>
          </a:xfrm>
          <a:prstGeom prst="rect">
            <a:avLst/>
          </a:prstGeom>
          <a:solidFill>
            <a:srgbClr val="0D1A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428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B4D8"/>
                </a:solidFill>
              </a:rPr>
              <a:t>💡  AI bisa menghasilkan banyak jawaban → Manusia harus memilih mana yang BENAR, BERGUNA, ETIS, dan sesuai KONTEKS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2FBE"/>
                </a:solidFill>
              </a:rPr>
              <a:t>🧠  COGNITIVE SKILLS  —  Otak yang Tak Bisa Digantikan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233172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978407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BE"/>
                </a:solidFill>
              </a:rPr>
              <a:t>🔍  Critical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435607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Mengevaluasi kualitas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jawaban &amp; sumber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868680"/>
            <a:ext cx="233172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978407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📈  Analytical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435607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Membaca pola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dan sebab-akibat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97480"/>
            <a:ext cx="233172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807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💡  Creative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26440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Menghasilkan ide baru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yang AI belum bisa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697480"/>
            <a:ext cx="233172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807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🔧  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326440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Merancang solusi,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bukan sekadar menjawab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526280"/>
            <a:ext cx="233172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7" y="46360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🌐  Systems Thinking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509320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Memahami dampak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keputusan secara luas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804672"/>
            <a:ext cx="6492240" cy="5486400"/>
          </a:xfrm>
          <a:prstGeom prst="rect">
            <a:avLst/>
          </a:prstGeom>
          <a:solidFill>
            <a:srgbClr val="0F0F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2FBE"/>
                </a:solidFill>
              </a:rPr>
              <a:t>⚡  MENGAPA INI PENTING?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389888"/>
            <a:ext cx="603504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1508760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6128" y="160020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🤖  AI bisa jawab soal ujian lebih cepat dari siswamu.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157984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2249424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📌  Tapi AI tidak bisa MEMAHAMI MAKNA di balik jawaban.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807208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2898648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🎯  Semakin mudah mencari jawaban lewat AI...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456432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3547872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🧩  Semakin penting kemampuan merumuskan pertanyaan.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4105656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8" y="4197096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📚  Pendidikan kita masih terlalu fokus pada HAFALAN.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754879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4846319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🚨  Di era AI: hafalan tidak bernilai. Pemahaman segalanya.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5404104"/>
            <a:ext cx="6126480" cy="566928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96128" y="5495544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Cognitive skills = senjata utama manusia vs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79224" y="73152"/>
            <a:ext cx="109728" cy="671169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🤝  HUMAN SKILLS  —  Yang Tak Bisa Diotomasi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5486400" cy="5394960"/>
          </a:xfrm>
          <a:prstGeom prst="rect">
            <a:avLst/>
          </a:prstGeom>
          <a:solidFill>
            <a:srgbClr val="0D0D1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86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📢  TREN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21208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Semakin kuat AI dalam tugas teknis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3911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          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15184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Semakin PENTING keunggulan manusia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9125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          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6732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Empati · Komunikasi · Nilai · Kerja sama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434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          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194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Menjadi PEMBEDA UTAMA di pasar kerja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822960"/>
            <a:ext cx="2743200" cy="242316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960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6B35"/>
                </a:solidFill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KOMUNIKASI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21408"/>
            <a:ext cx="237744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2402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Menyampaikan ide kompleks</a:t>
            </a:r>
          </a:p>
          <a:p>
            <a:pPr algn="ctr"/>
            <a:r>
              <a:rPr sz="1150" b="0" i="0">
                <a:solidFill>
                  <a:srgbClr val="FFFFFF"/>
                </a:solidFill>
              </a:rPr>
              <a:t>secara jelas &amp; persuasif.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822960"/>
            <a:ext cx="2743200" cy="2423160"/>
          </a:xfrm>
          <a:prstGeom prst="rect">
            <a:avLst/>
          </a:prstGeom>
          <a:solidFill>
            <a:srgbClr val="14141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9601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F476F"/>
                </a:solidFill>
              </a:rPr>
              <a:t>❤️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76F"/>
                </a:solidFill>
              </a:rPr>
              <a:t>EMPATI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19" y="2121408"/>
            <a:ext cx="237744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22402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Memahami perasaan orang lain.</a:t>
            </a:r>
          </a:p>
          <a:p>
            <a:pPr algn="ctr"/>
            <a:r>
              <a:rPr sz="1150" b="0" i="0">
                <a:solidFill>
                  <a:srgbClr val="FFFFFF"/>
                </a:solidFill>
              </a:rPr>
              <a:t>AI tidak bisa benar-benar peduli.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520440"/>
            <a:ext cx="2743200" cy="24231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3657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KOLABORASI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818888"/>
            <a:ext cx="237744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493776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Bekerja lintas tim, budaya,</a:t>
            </a:r>
          </a:p>
          <a:p>
            <a:pPr algn="ctr"/>
            <a:r>
              <a:rPr sz="1150" b="0" i="0">
                <a:solidFill>
                  <a:srgbClr val="FFFFFF"/>
                </a:solidFill>
              </a:rPr>
              <a:t>dan disiplin ilmu.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3520440"/>
            <a:ext cx="2743200" cy="242316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36576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6D6A0"/>
                </a:solidFill>
              </a:rPr>
              <a:t>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KEPEMIMPINAN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19" y="4818888"/>
            <a:ext cx="237744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7" y="493776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Menginspirasi, memotivasi,</a:t>
            </a:r>
          </a:p>
          <a:p>
            <a:pPr algn="ctr"/>
            <a:r>
              <a:rPr sz="1150" b="0" i="0">
                <a:solidFill>
                  <a:srgbClr val="FFFFFF"/>
                </a:solidFill>
              </a:rPr>
              <a:t>dan membuat keputusan sulit.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76F"/>
                </a:solidFill>
              </a:rPr>
              <a:t>⚖️  ADAPTIVE-ETHICAL SKILLS  —  Bertumbuh &amp; Bertanggung Jawab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5120640" cy="5440680"/>
          </a:xfrm>
          <a:prstGeom prst="rect">
            <a:avLst/>
          </a:prstGeom>
          <a:solidFill>
            <a:srgbClr val="100810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9611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76F"/>
                </a:solidFill>
              </a:rPr>
              <a:t>🌱  LIFELONG LEARNING TRAITS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484632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90472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🔍  Rasa ingin tahu yang terus tumbuh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85415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📖  Kemampuan belajar mandiri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15768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98063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🧭  Mencari sumber yang kredibel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28416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07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🔄  Menerima umpan balik dengan terbuka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41064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🎯  Kemampuan adaptif terhadap perubahan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53712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360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Menyadari bahwa skill kerja berubah cepat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66360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486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🔐  Memahami privasi data &amp; nilai etika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779008"/>
            <a:ext cx="4846320" cy="530352"/>
          </a:xfrm>
          <a:prstGeom prst="rect">
            <a:avLst/>
          </a:prstGeom>
          <a:solidFill>
            <a:srgbClr val="160D1A"/>
          </a:solidFill>
          <a:ln w="19050">
            <a:solidFill>
              <a:srgbClr val="3A1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6130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🤖  Memahami bias algoritma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822960"/>
            <a:ext cx="6263640" cy="5440680"/>
          </a:xfrm>
          <a:prstGeom prst="rect">
            <a:avLst/>
          </a:prstGeom>
          <a:solidFill>
            <a:srgbClr val="0D0A10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896112"/>
            <a:ext cx="5989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76F"/>
                </a:solidFill>
              </a:rPr>
              <a:t>🚨  MENGAPA ETIKA AI KRUSIAL?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371600"/>
            <a:ext cx="5989320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1463040"/>
            <a:ext cx="5989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</a:rPr>
              <a:t>AI adalah alat kuat</a:t>
            </a:r>
          </a:p>
          <a:p>
            <a:pPr algn="ctr"/>
            <a:r>
              <a:rPr sz="1250" b="0" i="0">
                <a:solidFill>
                  <a:srgbClr val="FFFFFF"/>
                </a:solidFill>
              </a:rPr>
              <a:t>         ↓</a:t>
            </a:r>
          </a:p>
          <a:p>
            <a:pPr algn="ctr"/>
            <a:r>
              <a:rPr sz="1250" b="0" i="0">
                <a:solidFill>
                  <a:srgbClr val="FFFFFF"/>
                </a:solidFill>
              </a:rPr>
              <a:t>Alat kuat memerlukan tanggung jawab</a:t>
            </a:r>
          </a:p>
          <a:p>
            <a:pPr algn="ctr"/>
            <a:r>
              <a:rPr sz="1250" b="0" i="0">
                <a:solidFill>
                  <a:srgbClr val="FFFFFF"/>
                </a:solidFill>
              </a:rPr>
              <a:t>         ↓</a:t>
            </a:r>
          </a:p>
          <a:p>
            <a:pPr algn="ctr"/>
            <a:r>
              <a:rPr sz="1250" b="0" i="0">
                <a:solidFill>
                  <a:srgbClr val="FFFFFF"/>
                </a:solidFill>
              </a:rPr>
              <a:t>Tanpa etika, AI bisa: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429000"/>
            <a:ext cx="2834640" cy="1143000"/>
          </a:xfrm>
          <a:prstGeom prst="rect">
            <a:avLst/>
          </a:prstGeom>
          <a:solidFill>
            <a:srgbClr val="14141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76F"/>
                </a:solidFill>
              </a:rPr>
              <a:t>⚠️  Memperkuat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3429000"/>
            <a:ext cx="2834640" cy="11430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74903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</a:rPr>
              <a:t>🎭  Alat MANIPULASI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4800600"/>
            <a:ext cx="2834640" cy="1143000"/>
          </a:xfrm>
          <a:prstGeom prst="rect">
            <a:avLst/>
          </a:prstGeom>
          <a:solidFill>
            <a:srgbClr val="1414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59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BE"/>
                </a:solidFill>
              </a:rPr>
              <a:t>📉  Perkuat KETIMPANGAN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4800600"/>
            <a:ext cx="2834640" cy="1143000"/>
          </a:xfrm>
          <a:prstGeom prst="rect">
            <a:avLst/>
          </a:prstGeom>
          <a:solidFill>
            <a:srgbClr val="14141E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AAAA"/>
                </a:solidFill>
              </a:rPr>
              <a:t>🔗  Ciptakan KETERGANTUNGAN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D166"/>
                </a:solidFill>
              </a:rPr>
              <a:t>🚨  TANTANGAN PENDIDIKAN KITA  —  Gap yang Harus Dijembatani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4183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📚  KURIKULUM
KETINGGALAN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52704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Kurikulum masih berbasis hafalan.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Belum sepenuhnya melatih berpikir kritis,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kreatif, dan digital-AI skills.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86868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86868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94183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🌍  KESENJANGAN
AKSES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Infrastruktur digital tidak merata.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Sekolah di desa vs kota punya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kualitas akses AI yang jauh berbeda.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86868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86868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94183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👩‍🏫  KOMPETENSI
GURU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2704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Banyak guru belum terpapar AI literacy.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Sulit mengajarkan sesuatu yang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belum dipahami sendiri.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73075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📏  SISTEM
PENILAIAN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1596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Ujian masih mengukur ingatan,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bukan pemahaman &amp; penerapan.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Mudah diakali oleh AI generatif.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65760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73075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⚠️  KETERGANTUNGAN
AI TANPA KRITIS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31596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Siswa pakai AI untuk menjawab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tugas tanpa berpikir.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Proses belajar yang hilang.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749039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749039" cy="5486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73075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🔗  KONEKSI
INDUSTRI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15968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Dunia pendidikan &amp; industri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belum terkoneksi baik.</a:t>
            </a:r>
          </a:p>
          <a:p>
            <a:pPr algn="l"/>
            <a:r>
              <a:rPr sz="1150" b="0" i="0">
                <a:solidFill>
                  <a:srgbClr val="FFFFFF"/>
                </a:solidFill>
              </a:rPr>
              <a:t>Skill yang diajarkan vs dibutuhkan tidak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6D6A0"/>
                </a:solidFill>
              </a:rPr>
              <a:t>🚀  SOLUSI  —  Langkah Konkret Transformasi Pendidikan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2761488" cy="420624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578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6D6A0"/>
                </a:solidFill>
              </a:rP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6D6A0"/>
                </a:solidFill>
              </a:rPr>
              <a:t>REDESIGN KURIKULUM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23957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31720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Integrasikan AI literacy &amp; digital skills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dalam setiap mata pelajaran.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Bukan kelas baru, tapi cara baru mengajar.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841248"/>
            <a:ext cx="2761488" cy="420624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914400"/>
            <a:ext cx="2578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664208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B4D8"/>
                </a:solidFill>
              </a:rPr>
              <a:t>UPSKILLING GURU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2212848"/>
            <a:ext cx="23957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Program pelatihan AI masif untuk guru.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Guru yang paham AI = siswa yang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siap masa depan.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841248"/>
            <a:ext cx="2761488" cy="4206240"/>
          </a:xfrm>
          <a:prstGeom prst="rect">
            <a:avLst/>
          </a:prstGeom>
          <a:solidFill>
            <a:srgbClr val="14141E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914400"/>
            <a:ext cx="2578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7B2FBE"/>
                </a:solidFill>
              </a:rPr>
              <a:t>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664208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7B2FBE"/>
                </a:solidFill>
              </a:rPr>
              <a:t>UBAH CARA PENILAIAN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2212848"/>
            <a:ext cx="23957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331720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Nilai proses, bukan hanya hasil.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Uji pemahaman nyata &amp; kemampuan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memecahkan masalah baru.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841248"/>
            <a:ext cx="2761488" cy="420624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914400"/>
            <a:ext cx="25786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D166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664208"/>
            <a:ext cx="2578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D166"/>
                </a:solidFill>
              </a:rPr>
              <a:t>PEMERATAAN AKSES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0576" y="2212848"/>
            <a:ext cx="2395728" cy="3657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331720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Infrastruktur digital di seluruh Indonesia.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Setiap siswa berhak mendapat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kualitas pendidikan yang sama.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30368"/>
            <a:ext cx="11430000" cy="960120"/>
          </a:xfrm>
          <a:prstGeom prst="rect">
            <a:avLst/>
          </a:prstGeom>
          <a:solidFill>
            <a:srgbClr val="050F0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💡  "AI menguntungkan orang yang mau belajar.</a:t>
            </a:r>
          </a:p>
          <a:p>
            <a:pPr algn="ctr"/>
            <a:r>
              <a:rPr sz="1400" b="1" i="0">
                <a:solidFill>
                  <a:srgbClr val="06D6A0"/>
                </a:solidFill>
              </a:rPr>
              <a:t>Yang tertinggal bukan yang pekerjaannya diganti — tapi yang berhenti belajar."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05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0"/>
            <a:ext cx="118872" cy="6858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60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F476F"/>
                </a:solidFill>
              </a:rPr>
              <a:t>⚠️  TANTANGAN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96112"/>
            <a:ext cx="5486400" cy="685800"/>
          </a:xfrm>
          <a:prstGeom prst="rect">
            <a:avLst/>
          </a:prstGeom>
          <a:solidFill>
            <a:srgbClr val="150508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6926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🔴  Pendidikan masih berbasis hafalan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5486400" cy="685800"/>
          </a:xfrm>
          <a:prstGeom prst="rect">
            <a:avLst/>
          </a:prstGeom>
          <a:solidFill>
            <a:srgbClr val="150508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🔴  Guru belum siap mengajar literasi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5486400" cy="685800"/>
          </a:xfrm>
          <a:prstGeom prst="rect">
            <a:avLst/>
          </a:prstGeom>
          <a:solidFill>
            <a:srgbClr val="150508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🔴  Akses digital tidak merata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64992"/>
            <a:ext cx="5486400" cy="685800"/>
          </a:xfrm>
          <a:prstGeom prst="rect">
            <a:avLst/>
          </a:prstGeom>
          <a:solidFill>
            <a:srgbClr val="150508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🔴  Sistem penilaian ketinggalan zaman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87952"/>
            <a:ext cx="5486400" cy="685800"/>
          </a:xfrm>
          <a:prstGeom prst="rect">
            <a:avLst/>
          </a:prstGeom>
          <a:solidFill>
            <a:srgbClr val="150508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6110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🔴  Siswa gunakan AI tanpa berpikir kritis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560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</a:rPr>
              <a:t>✅  PELUANG &amp; SOLUSI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896112"/>
            <a:ext cx="5486400" cy="685800"/>
          </a:xfrm>
          <a:prstGeom prst="rect">
            <a:avLst/>
          </a:prstGeom>
          <a:solidFill>
            <a:srgbClr val="05150A"/>
          </a:solidFill>
          <a:ln w="19050">
            <a:solidFill>
              <a:srgbClr val="0A3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96926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🟢  Redesign kurikulum berbasis kompetensi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1719072"/>
            <a:ext cx="5486400" cy="685800"/>
          </a:xfrm>
          <a:prstGeom prst="rect">
            <a:avLst/>
          </a:prstGeom>
          <a:solidFill>
            <a:srgbClr val="05150A"/>
          </a:solidFill>
          <a:ln w="19050">
            <a:solidFill>
              <a:srgbClr val="0A3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79222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🟢  Upskilling masif untuk guru Indonesia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2542032"/>
            <a:ext cx="5486400" cy="685800"/>
          </a:xfrm>
          <a:prstGeom prst="rect">
            <a:avLst/>
          </a:prstGeom>
          <a:solidFill>
            <a:srgbClr val="05150A"/>
          </a:solidFill>
          <a:ln w="19050">
            <a:solidFill>
              <a:srgbClr val="0A3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615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🟢  Demokratisasi akses teknologi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3364992"/>
            <a:ext cx="5486400" cy="685800"/>
          </a:xfrm>
          <a:prstGeom prst="rect">
            <a:avLst/>
          </a:prstGeom>
          <a:solidFill>
            <a:srgbClr val="05150A"/>
          </a:solidFill>
          <a:ln w="19050">
            <a:solidFill>
              <a:srgbClr val="0A3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4381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🟢  Ubah penilaian: proses &amp; pemahaman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187952"/>
            <a:ext cx="5486400" cy="685800"/>
          </a:xfrm>
          <a:prstGeom prst="rect">
            <a:avLst/>
          </a:prstGeom>
          <a:solidFill>
            <a:srgbClr val="05150A"/>
          </a:solidFill>
          <a:ln w="19050">
            <a:solidFill>
              <a:srgbClr val="0A3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26110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🟢  Bangun generasi kritis, adaptif, etis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074920"/>
            <a:ext cx="9445752" cy="1417320"/>
          </a:xfrm>
          <a:prstGeom prst="rect">
            <a:avLst/>
          </a:prstGeom>
          <a:solidFill>
            <a:srgbClr val="0D0D0D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5166360"/>
            <a:ext cx="9171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🌟  SDM unggul era AI bukan yang paling pintar menggunakan AI</a:t>
            </a:r>
          </a:p>
          <a:p>
            <a:pPr algn="ctr"/>
            <a:r>
              <a:rPr sz="1300" b="1" i="0">
                <a:solidFill>
                  <a:srgbClr val="FFD166"/>
                </a:solidFill>
              </a:rPr>
              <a:t>— tapi yang paling bijak MEMILIH, MEMILAH, dan BERTANGGUNG JAWAB atas penggunaannya.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