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6583680" cy="10972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5486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24928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91856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8784" y="5486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25712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59568" y="5486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26496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393424" y="5486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24928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3258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58784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25712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3258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59568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26496" y="13258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393424" y="13258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8" y="21031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58784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25712" y="21031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59568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26496" y="21031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93424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288036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24928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6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58784" y="288036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25712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92640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59568" y="288036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26496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393424" y="28803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858000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24928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91856" y="365760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58784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25712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365760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59568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26496" y="36576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93424" y="365760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24928" y="44348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91856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58784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25712" y="44348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92640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59568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26496" y="443484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93424" y="44348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58000" y="52120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24928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91856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58784" y="52120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25712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92640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59568" y="521208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826496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393424" y="5212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58000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4928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91856" y="59893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58784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25712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92640" y="59893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59568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826496" y="59893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393424" y="5989320"/>
            <a:ext cx="9144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72400" y="1828800"/>
            <a:ext cx="2011680" cy="237744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72400" y="196596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00C8FF"/>
                </a:solidFill>
              </a:rPr>
              <a:t>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AI &amp; CYBERSECURITY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LABORATORY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9144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PARTNERSHIP PROPOSAL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141732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Development of the
Artificial Intelligence &amp;
Cybersecurity Laboratory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5760" y="3154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E5B0"/>
                </a:solidFill>
              </a:rPr>
              <a:t>(AICS-Lab UNDIP)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5760" y="3703320"/>
            <a:ext cx="585216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38404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DIPONEGORO UNIVERSITY  ×  POSITIVE TECHNOLOGIES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576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Faculty of Science and Mathematics  |  Department of Informatics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44988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7th Floor, FSM Central Laboratory Building, Semarang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FF"/>
                </a:solidFill>
              </a:rPr>
              <a:t>AI &amp; Cybersecurity Laboratory – UNDIP × Positive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4416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399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21408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23113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Background &amp; Rationale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08376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08376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1181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1729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Parties &amp; Partnership Scheme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95344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95344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0050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0599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Laboratory Concept &amp; Functional Zones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82312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82312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892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4946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Technical Specifications &amp; Equipment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69280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77900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8338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Academic Programmes &amp; Human Capital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234440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234440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134416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1399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Budget &amp; Investment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121408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2121408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223113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Governance &amp; KPIs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008376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3008376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8232" y="311810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31729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895344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3895344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40050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76872" y="40599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Risk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782312"/>
            <a:ext cx="5486400" cy="749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4782312"/>
            <a:ext cx="73152" cy="7498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28232" y="48920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2" y="49469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Closing &amp;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01 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18288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IDR 45.1B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Total CAPEX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0008" y="1115568"/>
            <a:ext cx="182880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B0"/>
                </a:solidFill>
              </a:rPr>
              <a:t>IDR 5.8B/yr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Annual OPEX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1115568"/>
            <a:ext cx="182880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8C00"/>
                </a:solidFill>
              </a:rPr>
              <a:t>± 977 m²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Lab Floor Area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115568"/>
            <a:ext cx="182880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Q1 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Official Launch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5592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5592" y="1115568"/>
            <a:ext cx="182880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B0"/>
                </a:solidFill>
              </a:rPr>
              <a:t>S2 / 39 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Master's Programme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1115568"/>
            <a:ext cx="1828800" cy="914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20" y="1115568"/>
            <a:ext cx="182880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1207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8C00"/>
                </a:solidFill>
              </a:rPr>
              <a:t>5 Zones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1627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Functional Areas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176272"/>
            <a:ext cx="11338560" cy="24688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2176272"/>
            <a:ext cx="64008" cy="2468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The AICS-Lab UNDIP will be established at the 7th Floor of the FSM Central Laboratory Building, Diponegoro University, as a national center of excellence integrating AI and cybersecurity education, research, innovation, and professional services.
The initiative addresses Indonesia's structural digital-talent gap (9M talents needed by 2030) and 403M+ cyberattacks recorded by BSSN in 2023. A strategic partnership with Positive Technologies (Russia) brings world-class tools: MaxPatrol SIEM/VM, PT NAD, PT Sandbox, PT AF, and the Standoff 365 global cyber-range.
Construction begins December 2026; Official Launch Q1 2028.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0C8FF"/>
                </a:solidFill>
              </a:rPr>
              <a:t>✔  Cooperation staged: LoI → MoU → MoA → Implementation Arrangement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C8FF"/>
                </a:solidFill>
              </a:rPr>
              <a:t>✔  Funding: UNDIP ±55% | Positive Technologies ±20% (in-kind) | Grants/CSR ±25%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0C8FF"/>
                </a:solidFill>
              </a:rPr>
              <a:t>✔  DED completed June 2026  |  Site preparation commenced 17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02  BACKGROUND &amp;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This Lab — Why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70432"/>
            <a:ext cx="3657600" cy="1554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36576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8FF"/>
                </a:solidFill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2618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C8FF"/>
                </a:solidFill>
              </a:rPr>
              <a:t>USD 366B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Indonesia's projected
digital economy by 2030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70432"/>
            <a:ext cx="3657600" cy="1554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70432"/>
            <a:ext cx="36576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8C00"/>
                </a:solidFill>
              </a:rPr>
              <a:t>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2618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8C00"/>
                </a:solidFill>
              </a:rPr>
              <a:t>403M+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71907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Cyber-attack traffic anomalies
recorded by BSSN in 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170432"/>
            <a:ext cx="3657600" cy="1554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170432"/>
            <a:ext cx="3657600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E5B0"/>
                </a:solidFill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26187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B0"/>
                </a:solidFill>
              </a:rPr>
              <a:t>9 Million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1907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Digital talents needed
by 2030 — supply far behind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80360"/>
            <a:ext cx="5486400" cy="3200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2880360"/>
            <a:ext cx="64008" cy="3200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National Imperative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310128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AI &amp; cybersecurity are decisive determinants of national competitiveness &amp; sovereignty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UNDIP as PTN-BH has the mandate and autonomy to respond strategically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7th floor of FSM Central Lab Building is ideally suited for AI/cyber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80360"/>
            <a:ext cx="5486400" cy="32004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880360"/>
            <a:ext cx="64008" cy="320040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443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B0"/>
                </a:solidFill>
              </a:rPr>
              <a:t>Structural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10128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Persistent shortage of certified AI, data science &amp; cybersecurity professionals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Escalating threats to vital information infrastructure require immediate action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Strategic moment: Physical infrastructure ready, partner aligned, DED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03  THE PARTIES &amp; PARTNERSHIP SCHEME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Strategic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5303520" cy="24688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30352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🏛  DIPONEGORO UNIVERSITY (UNDIP)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Leading PTN-BH state university, Semarang, Central Java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Faculty of Science &amp; Mathematics (FSM) — Dept. of Informatics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Academic foundation: intelligent computing, data analytics &amp; cybersecurity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Land &amp; building (7th floor), civil works, HR &amp; operating costs  →  ±55% CAPEX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5760720" cy="24688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5760720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</a:rPr>
              <a:t>🔐  POSITIVE TECHNOLOGIES (Russian Federation)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9164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World-class cybersecurity company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Portfolio: MaxPatrol SIEM, MaxPatrol VM, PT NAD, PT Sandbox, PT AF, PT ISIM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Standoff 365 — global cyber-range platform &amp; active education initiatives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▸  Solution licenses, curriculum, ToT &amp; certification  →  ±20% CAPEX (in-kind)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Cooperation Scheme  (staged, equal-partnership)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06240"/>
            <a:ext cx="2468880" cy="141732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206240"/>
            <a:ext cx="24688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</a:rPr>
              <a:t>LoI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Letter
of Intent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572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206240"/>
            <a:ext cx="2468880" cy="141732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4206240"/>
            <a:ext cx="24688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FF"/>
                </a:solidFill>
              </a:rPr>
              <a:t>MoU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Memorandum
of Understanding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572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206240"/>
            <a:ext cx="2468880" cy="1417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206240"/>
            <a:ext cx="246888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B0"/>
                </a:solidFill>
              </a:rPr>
              <a:t>MoA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Memorandum
of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572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4206240"/>
            <a:ext cx="2468880" cy="1417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60" y="4206240"/>
            <a:ext cx="246888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4315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B0"/>
                </a:solidFill>
              </a:rPr>
              <a:t>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773168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Implementation
Arrangement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04  LABORATORY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Lab Vision &amp; 5 Functional Zones — 7th Floor (±977 m²)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62179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64008" cy="62179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247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E8"/>
                </a:solidFill>
              </a:rPr>
              <a:t>Vision: A national &amp; regional center of excellence in AI and cybersecurity — delivering excellence across four pillars: Education | Research &amp; Innovation | Down-streaming &amp; Professional Services | Community Outreach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28800"/>
            <a:ext cx="2194560" cy="4251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28800"/>
            <a:ext cx="219456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93392"/>
            <a:ext cx="841248" cy="29260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Zone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408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AI Compute
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±170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GPU/HPC cluster, storage,
private cloud, MLOps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4056" y="1828800"/>
            <a:ext cx="2194560" cy="4251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34056" y="1828800"/>
            <a:ext cx="219456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1216" y="1993392"/>
            <a:ext cx="841248" cy="29260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71216" y="2011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B0"/>
                </a:solidFill>
              </a:rPr>
              <a:t>Zone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23408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B0"/>
                </a:solidFill>
              </a:rPr>
              <a:t>Cyber-Range
&amp; SOC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5496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±150 m²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5496" y="340156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Red/Blue/Purple team sim,
Standoff 365, video wall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56632" y="1828800"/>
            <a:ext cx="2194560" cy="4251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56632" y="1828800"/>
            <a:ext cx="219456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93792" y="1993392"/>
            <a:ext cx="841248" cy="29260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2011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00"/>
                </a:solidFill>
              </a:rPr>
              <a:t>Zone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23408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Practicum Labs &amp;
Classrooms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2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±250 m²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40156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AI, data science &amp; cybersecurity
practicums, 50-52 seats/room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9208" y="1828800"/>
            <a:ext cx="2194560" cy="4251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79208" y="1828800"/>
            <a:ext cx="219456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16368" y="1993392"/>
            <a:ext cx="841248" cy="29260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6368" y="2011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Zone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3408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FF"/>
                </a:solidFill>
              </a:rPr>
              <a:t>Research &amp;
Incubation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0648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±150 m²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340156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Faculty-student research,
co-working, startup incubation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01784" y="1828800"/>
            <a:ext cx="2194560" cy="4251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01784" y="1828800"/>
            <a:ext cx="219456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38944" y="1993392"/>
            <a:ext cx="841248" cy="29260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38944" y="2011680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B0"/>
                </a:solidFill>
              </a:rPr>
              <a:t>Zone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3224" y="234086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B0"/>
                </a:solidFill>
              </a:rPr>
              <a:t>Support
Facilities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93224" y="3035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±157 m²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3224" y="3401568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8"/>
                </a:solidFill>
              </a:rPr>
              <a:t>Technician room, store,
meeting room, lounge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144768"/>
            <a:ext cx="11338560" cy="45720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Total Floor Area: ±977 m²   |   Functional Zones Subtotal: ±877 m²   |   Circulation &amp; Utilities: ±100 m²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05  TECHNICAL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Technology Architecture &amp; Key Equipment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64008" cy="5943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143000"/>
            <a:ext cx="11274552" cy="5943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188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</a:rPr>
              <a:t>Applications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234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AI/ML Frameworks · MLOps · MaxPatrol SIEM/VM · PT Sandbox · Standoff 365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856232"/>
            <a:ext cx="6400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1856232"/>
            <a:ext cx="11274552" cy="5943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0195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Security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47672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PT NAD · PT AF · NGFW · Micro-segmentation · SOC/SOAR · Physical access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69464"/>
            <a:ext cx="64008" cy="5943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2569464"/>
            <a:ext cx="11274552" cy="5943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61518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Network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660904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L3 Core Switch · Access Switches · Isolated Cyber-Range Network · Redundant 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82696"/>
            <a:ext cx="64008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" y="3282696"/>
            <a:ext cx="11274552" cy="5943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32841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Compute &amp;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374136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GPU/HPC Cluster (≥8 accel/unit) · ≥200 TB All-flash Storage · Private 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114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Equipment (Indicative)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62272"/>
            <a:ext cx="11338560" cy="34747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480560"/>
            <a:ext cx="6858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Components &amp; Specs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448056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Qty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28032"/>
            <a:ext cx="11338560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64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AI Compute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8646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Data-center GPU servers (≥8 accelerators/unit), NVMe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4864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3–4 units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157216"/>
            <a:ext cx="11338560" cy="32004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93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51937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High-capacity all-flash / NAS-SAN          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≥200 TB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486400"/>
            <a:ext cx="11338560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229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Cyber-Range/SOC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55229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Cyber-range platform, simulation servers, SIEM/SOAR console, video wall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55229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815584"/>
            <a:ext cx="11338560" cy="32004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Workstations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8521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High-spec practicum PCs with workstation-class GPU     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5852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±100 units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1813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Security SW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61813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MaxPatrol SIEM/VM, PT NAD, PT Sandbox, PT AF, Standoff 365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1813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Academic lic.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6473952"/>
            <a:ext cx="11338560" cy="32004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B0"/>
                </a:solidFill>
              </a:rPr>
              <a:t>Power &amp; Cooling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65105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Redundant UPS, PDU, precision cooling (Zones 1–2)         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65105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 pkg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06  ACADEMIC PROGRAMMES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Master's Programme (S2) &amp; Human Capital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5669280" cy="53035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66928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Master of Computer Science (M.Kom.)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</a:rPr>
              <a:t>Artificial Intelligence &amp; Cybersecurity  |  4 Semesters  |  ±39 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E5B0"/>
                </a:solidFill>
              </a:rPr>
              <a:t>Bridged by "AI for Security" theme  |  Target 1st intake: AY 2027/2028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5486400" cy="89611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502920" cy="89611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68296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1028"/>
                </a:solidFill>
              </a:rPr>
              <a:t>Sem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404872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Adv. Machine Learning · Foundations of Cybersecurity · Big Data Analytics · Research 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60604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11 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19272"/>
            <a:ext cx="5486400" cy="8961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319272"/>
            <a:ext cx="502920" cy="8961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55848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1028"/>
                </a:solidFill>
              </a:rPr>
              <a:t>Sem 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392424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Adversarial ML &amp; AI for Security · Concentration Electives I–III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5935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12 SKS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06824"/>
            <a:ext cx="5486400" cy="89611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06824"/>
            <a:ext cx="502920" cy="89611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43400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1028"/>
                </a:solidFill>
              </a:rPr>
              <a:t>Sem III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379976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Cyber-Range Capstone (Standoff 365) · Elective IV · Thesis Proposal · Certification/Internship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5811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10 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94376"/>
            <a:ext cx="5486400" cy="8961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94376"/>
            <a:ext cx="502920" cy="89611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330952"/>
            <a:ext cx="502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1028"/>
                </a:solidFill>
              </a:rPr>
              <a:t>Sem IV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5367528"/>
            <a:ext cx="4389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Thesis &amp; Scientific Publication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5568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6 SKS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143000"/>
            <a:ext cx="5394960" cy="24231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143000"/>
            <a:ext cx="5394960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2618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B0"/>
                </a:solidFill>
              </a:rPr>
              <a:t>Concentration Tracks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664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🤖  Artificial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196596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Natural Language Processing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Computer Vision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Generative AI &amp; LLMs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MLOps &amp; Scalable AI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Reinforcement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2816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B0"/>
                </a:solidFill>
              </a:rPr>
              <a:t>🔐  Cybersecurity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108960"/>
            <a:ext cx="5074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Offensive Security &amp; Pen Testing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Digital Forensics &amp; IR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Network &amp; Infrastructure Security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Applied Cryptography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SOC &amp; Threat Intelligence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703320"/>
            <a:ext cx="5394960" cy="2724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703320"/>
            <a:ext cx="53949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8221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Other Human Capital Programmes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224528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Professional Certification tracks (MaxPatrol, PT NAD, Standoff 365)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Training of Trainers (ToT) — jointly led with Positive Technologies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Intensive bootcamps and short courses for industry &amp; government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CTF competitions — host &amp; participate (national / international)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Security assessment &amp; penetration-testing services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D6E8"/>
                </a:solidFill>
              </a:rPr>
              <a:t>▸  Startup incubation and community cybersecurity literacy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07  BUDGET &amp;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Budget &amp; Investment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246888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78992"/>
            <a:ext cx="24688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IDR 45.1B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Total CAPEX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78992"/>
            <a:ext cx="246888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078992"/>
            <a:ext cx="2468880" cy="6400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17043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E5B0"/>
                </a:solidFill>
              </a:rPr>
              <a:t>IDR 5.8B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581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Annual OPEX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078992"/>
            <a:ext cx="246888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078992"/>
            <a:ext cx="246888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17043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8C00"/>
                </a:solidFill>
              </a:rPr>
              <a:t>55 / 20 / 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581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UNDIP / PT / Ext.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078992"/>
            <a:ext cx="2468880" cy="822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078992"/>
            <a:ext cx="24688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17043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Multi-source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5819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Funding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20574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Capital Expenditure (CAPEX) Breakdown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04872"/>
            <a:ext cx="740664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4323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Investment Component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4323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IDR (Billion)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4323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34056"/>
            <a:ext cx="7406640" cy="3291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77977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Interior &amp; MEP fit-out (±977 m²)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27797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77977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 / Grant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072384"/>
            <a:ext cx="740664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1181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AI Compute (GPU/HPC cluster, storage)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1181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11810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Grant / RKAT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410712"/>
            <a:ext cx="7406640" cy="3291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4564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Cyber-Range &amp; SOC infrastructure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4564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345643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 / Partner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749040"/>
            <a:ext cx="740664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7947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Workstations &amp; practicum devices (±100 units)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57800" y="37947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794760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087368"/>
            <a:ext cx="7406640" cy="3291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1330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Positive Technologies licenses &amp; platform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1330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133088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Partner in-kind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425696"/>
            <a:ext cx="740664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47141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Network, UPS, precision cooling &amp; physical sec.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57800" y="4471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4471416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764024"/>
            <a:ext cx="7406640" cy="3291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8097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Furniture, AV systems &amp; signage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48097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102352"/>
            <a:ext cx="740664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1480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Project management &amp; contingency (±10%)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5148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514807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E5B0"/>
                </a:solidFill>
              </a:rPr>
              <a:t>RKAT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449824"/>
            <a:ext cx="7406640" cy="38404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5449824"/>
            <a:ext cx="740664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486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INDICATIVE CAPEX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5486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± 45.1B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2057400"/>
            <a:ext cx="3749039" cy="384048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01000" y="2057400"/>
            <a:ext cx="3749039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38160" y="21762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B0"/>
                </a:solidFill>
              </a:rPr>
              <a:t>Annual OPEX ≈ IDR 5.8B/year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26334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Licenses &amp; SW maintenance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2907792"/>
            <a:ext cx="3017520" cy="18288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2907792"/>
            <a:ext cx="936471" cy="182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20351" y="288036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1.8B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3227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Infrastructure &amp; utilities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502152"/>
            <a:ext cx="3017520" cy="18288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138160" y="3502152"/>
            <a:ext cx="780393" cy="182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4273" y="347472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1.5B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3822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Management staff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38160" y="4096512"/>
            <a:ext cx="3017520" cy="18288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38160" y="4096512"/>
            <a:ext cx="624314" cy="182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08194" y="406908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1.2B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44165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Training &amp; certification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38160" y="4690872"/>
            <a:ext cx="3017520" cy="18288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138160" y="4690872"/>
            <a:ext cx="416209" cy="182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00089" y="466344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0.8B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50109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Operations &amp; admin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38160" y="5285232"/>
            <a:ext cx="3017520" cy="18288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38160" y="5285232"/>
            <a:ext cx="260131" cy="18288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44011" y="525780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0.5B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01000" y="5971032"/>
            <a:ext cx="3749039" cy="65836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28431" y="6035040"/>
            <a:ext cx="3657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Funding Split:   UNDIP 55%   |   Positive Technologies 20% (in-kind)   |   Grants/CSR 25%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08  GOVERNANCE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Governance Structure &amp; Key Performance Indicators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5029200" cy="53949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0292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Governance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470916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64008" cy="4754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282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Dean of FSM, Diponegoro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6596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6E8"/>
                </a:solidFill>
              </a:rPr>
              <a:t>Strategic oversight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258568"/>
            <a:ext cx="457200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258568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2951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Joint Steering Committee (UNDIP–Partner)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532888"/>
            <a:ext cx="3063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6E8"/>
                </a:solidFill>
              </a:rPr>
              <a:t>Strategic direction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25496"/>
            <a:ext cx="443484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2825496"/>
            <a:ext cx="640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8620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Head of Laboratory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099816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6E8"/>
                </a:solidFill>
              </a:rPr>
              <a:t>Laboratory leadership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392424"/>
            <a:ext cx="42976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392424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429000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Joint Technical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666744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D6E8"/>
                </a:solidFill>
              </a:rPr>
              <a:t>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959352"/>
            <a:ext cx="42976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3959352"/>
            <a:ext cx="64008" cy="4754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4712" y="3995928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Operations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423367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355A"/>
                </a:solidFill>
              </a:rPr>
              <a:t>Day-to-day operations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4526280"/>
            <a:ext cx="42976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" y="4526280"/>
            <a:ext cx="64008" cy="4754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" y="4562856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Research Coordinator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80060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355A"/>
                </a:solidFill>
              </a:rPr>
              <a:t>Research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5093208"/>
            <a:ext cx="42976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0120" y="5093208"/>
            <a:ext cx="64008" cy="4754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5129784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Education &amp; Certification Coord.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5367528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355A"/>
                </a:solidFill>
              </a:rPr>
              <a:t>Academic programmes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0120" y="5660136"/>
            <a:ext cx="42976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0120" y="5660136"/>
            <a:ext cx="64008" cy="475488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24712" y="5696712"/>
            <a:ext cx="2788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Infrastructure Engineers &amp; SOC Analysts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934456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355A"/>
                </a:solidFill>
              </a:rPr>
              <a:t>Technical 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114300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1490472"/>
            <a:ext cx="6126480" cy="32918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1517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KPI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15179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2027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6920" y="15179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2028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15179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FF"/>
                </a:solidFill>
              </a:rPr>
              <a:t>2029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1819656"/>
            <a:ext cx="6126480" cy="5120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189280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Students in lab practicums/programmes (persons/yr)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191109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300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191109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800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191109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1,200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2350008"/>
            <a:ext cx="6126480" cy="51206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5000" y="24231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Professionally certified participants (persons/yr)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244144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46920" y="244144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120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244144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250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2880360"/>
            <a:ext cx="6126480" cy="5120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0" y="29535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Lecturers/instructors completing ToT (cumulative)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32520" y="29718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29718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1320" y="29718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3410712"/>
            <a:ext cx="6126480" cy="51206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348386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Scientific publications (indexed) (articles/yr)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32520" y="350215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46920" y="350215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61320" y="350215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23560" y="3941064"/>
            <a:ext cx="6126480" cy="5120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15000" y="401421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Research &amp; grants won (titles/yr)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403250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03250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1320" y="403250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23560" y="4471416"/>
            <a:ext cx="6126480" cy="51206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45445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Competitions hosted/participated (Standoff/CTF/yr)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32520" y="456285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46920" y="456285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61320" y="456285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23560" y="5001768"/>
            <a:ext cx="6126480" cy="5120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15000" y="507492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Services to industry/gov't (contracts/yr)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732520" y="509320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509320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61320" y="509320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12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23560" y="5532120"/>
            <a:ext cx="6126480" cy="512064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15000" y="56052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Incubated startups/products (units/yr)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32520" y="56235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46920" y="56235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56235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23560" y="6062472"/>
            <a:ext cx="6126480" cy="51206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15000" y="613562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Service revenue / PNBP (IDR billion/yr)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732520" y="615391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E5B0"/>
                </a:solidFill>
              </a:rPr>
              <a:t>1.0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615391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3.0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615391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6.0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09  IMPLEMENTATION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Roadmap — 2026 to 2028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04288"/>
            <a:ext cx="11338560" cy="54864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9848" y="2148840"/>
            <a:ext cx="3657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06040"/>
            <a:ext cx="18288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Phase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Jun–Oct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Initiation,
DED &amp; Site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LoI &amp; MoU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DED completed (Jun 2026)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Site prep begun (17 Jun 2026)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S2 curriculum drafting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Procurement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376" y="2148840"/>
            <a:ext cx="365760" cy="3657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0008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50008" y="2606040"/>
            <a:ext cx="1828800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B0"/>
                </a:solidFill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0008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Oct–Dec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Procurement &amp;
Mobilization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MoA &amp; Impl. Arrangement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Final budget approval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Tender &amp; procurement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Lab construction begins (Dec 2026)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6904" y="2148840"/>
            <a:ext cx="3657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8536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2606040"/>
            <a:ext cx="18288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Jan–Jun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Construction
&amp; Fit-out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Interior works &amp; MEP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Server room &amp; raised floor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Precision cooling installed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Lab space ready (Jun 2027)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85432" y="2148840"/>
            <a:ext cx="365760" cy="3657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7064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7064" y="2606040"/>
            <a:ext cx="1828800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Apr–Sep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Equipment
Installation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HPC/GPU &amp; storage install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Partner solutions deployed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Cyber-range configured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Systems tested (Sep 2027)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2148840"/>
            <a:ext cx="365760" cy="36576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65592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65592" y="2606040"/>
            <a:ext cx="1828800" cy="73152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65592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B0"/>
                </a:solidFill>
              </a:rPr>
              <a:t>Phase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Sep–Dec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Integration
&amp; ToT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8744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System integration &amp; testing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Training of Trainers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SOPs finalized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Soft launch / pilot (Dec 2027)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762488" y="2148840"/>
            <a:ext cx="36576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04120" y="2606040"/>
            <a:ext cx="1828800" cy="39319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04120" y="2606040"/>
            <a:ext cx="182880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Phase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4120" y="299923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D6E8"/>
                </a:solidFill>
              </a:rPr>
              <a:t>Jan 2028+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2918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Full Operation
&amp; Launch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7272" y="3913632"/>
            <a:ext cx="1719072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Official launch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First S2 (Master's) intake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Certification programmes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8"/>
                </a:solidFill>
              </a:rPr>
              <a:t>·  Research &amp; industry services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510528"/>
            <a:ext cx="113385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Jun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DED Complete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56232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17 Jun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56232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Site Prep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00984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Oct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00984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MoU Signed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45736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Dec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45736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Build Starts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0488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Jun 2027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0488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Space Ready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Sep 2027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Equip. Done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9992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Dec 2027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9992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Soft Launch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24744" y="6565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C8FF"/>
                </a:solidFill>
              </a:rPr>
              <a:t>Q1 2028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24744" y="6720840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CD6E8"/>
                </a:solidFill>
              </a:rPr>
              <a:t>🚀 Official Launch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10 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Risk Register &amp; Mitigation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1338560" cy="365760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11556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155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1155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11155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FF"/>
                </a:solidFill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463040"/>
            <a:ext cx="11338560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2763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Funding shortfall /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6276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Financial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276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6276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Multi-source funding; phased investment; firm RKAT commitment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112264"/>
            <a:ext cx="11338560" cy="62179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27685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2037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Construction / fit-out 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2768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Operational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27685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220370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Realistic scheduling; competent contractor; critical-path monitoring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61488"/>
            <a:ext cx="11338560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92608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852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Shortage of qualified 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29260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Human Capital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926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8529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Early ToT; partner-supported recruitment; certification programmes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410712"/>
            <a:ext cx="11338560" cy="62179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57530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502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Cybersecurity incident in the lab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35753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5753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57530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3502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Strict network isolation; hardening; SOPs; regular audits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059936"/>
            <a:ext cx="11338560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2452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1513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Technology dependence on partner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42245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Strategic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224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224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41513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Technology-transfer clauses; internal capacity; multi-vendor where feasible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09160"/>
            <a:ext cx="11338560" cy="62179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48737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4800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Operational sustainability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4873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Financial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873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487375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Service/research revenue (PNBP); periodic OPEX review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358384"/>
            <a:ext cx="11338560" cy="62179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52297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5449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Regulatory / compliance issues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55229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Compliance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55229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55229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0608" y="54498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Legal review; alignment with national regulations; data protection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6007608"/>
            <a:ext cx="11338560" cy="621792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17220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D6E8"/>
                </a:solidFill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6099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Geopolitical / sanctions exposure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11880" y="6172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Compliance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6172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B0"/>
                </a:solidFill>
              </a:rPr>
              <a:t>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6172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Med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50608" y="60990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Due diligence; academic/in-kind scope; legal &amp; inter-ministerial consultation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2377440" cy="2926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2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1028"/>
                </a:solidFill>
              </a:rPr>
              <a:t>EXPECTED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Who Benefits — and 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743200" cy="4892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274320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C8FF"/>
                </a:solidFill>
              </a:rPr>
              <a:t>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UNDIP / FSM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219456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334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Enhanced academic &amp; international reputation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World-class computing &amp; security facilities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Stronger IKU (Key Performance Indicators)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New revenue streams via PNBP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143000"/>
            <a:ext cx="2743200" cy="4892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43000"/>
            <a:ext cx="274320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2984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E5B0"/>
                </a:solidFill>
              </a:rPr>
              <a:t>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5B0"/>
                </a:solidFill>
              </a:rPr>
              <a:t>Students &amp;
Lecturers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2514600"/>
            <a:ext cx="2194560" cy="36576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26334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Practice-based, cyber-range learning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Embedded professional certification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Research &amp; publication opportunities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CTF competitions (national &amp; international)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1143000"/>
            <a:ext cx="2743200" cy="4892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143000"/>
            <a:ext cx="2743200" cy="91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12984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8C00"/>
                </a:solidFill>
              </a:rPr>
              <a:t>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8C00"/>
                </a:solidFill>
              </a:rPr>
              <a:t>Positive
Technologies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01384" y="2514600"/>
            <a:ext cx="219456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6334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Academic engagement &amp; talent 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Regional reference deployment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Collaborative research &amp; publications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Curriculum &amp; Training of Trainers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1143000"/>
            <a:ext cx="2743200" cy="48920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1143000"/>
            <a:ext cx="2743200" cy="914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12984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C8FF"/>
                </a:solidFill>
              </a:rPr>
              <a:t>🇮🇩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1874519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FF"/>
                </a:solidFill>
              </a:rPr>
              <a:t>Nation &amp;
Region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09176" y="2514600"/>
            <a:ext cx="219456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633472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Certified digital talent at scale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Strengthened national cyber resilience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Digital sovereignty protection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8"/>
                </a:solidFill>
              </a:rPr>
              <a:t>✓  Applied AI &amp; cybersecurity research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44768"/>
            <a:ext cx="1133856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6144768"/>
            <a:ext cx="1133856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1996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"A strategic, timely, and high-impact investment in Indonesia's digital future — accelerating certified talent, research excellence, and national cyber resilience."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6400800" cy="10972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0" y="4572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51776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36992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22208" y="4572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07424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77856" y="4572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63072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48288" y="4572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51776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2" y="12801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22208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2801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77856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63072" y="12801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48288" y="12801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21031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6992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22208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21031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77856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63072" y="21031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448288" y="21031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292608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51776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36992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22208" y="292608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07424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92640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77856" y="292608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63072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48288" y="292608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51776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36992" y="374904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22208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374904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77856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63072" y="374904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48288" y="374904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66560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51776" y="45720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36992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22208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07424" y="45720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92640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77856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63072" y="457200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448288" y="457200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66560" y="53949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51776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36992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22208" y="53949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07424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92640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77856" y="539496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863072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448288" y="539496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766560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51776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36992" y="62179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522208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07424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92640" y="62179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77856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863072" y="6217920"/>
            <a:ext cx="91440" cy="91440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448288" y="6217920"/>
            <a:ext cx="91440" cy="91440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0" y="16459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00E5B0"/>
                </a:solidFill>
              </a:rPr>
              <a:t>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42976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B0"/>
                </a:solidFill>
              </a:rPr>
              <a:t>OFFICIAL LAUNCH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5120" y="4754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Q1 2028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7315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</a:rPr>
              <a:t>11  CLOSING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1170432"/>
            <a:ext cx="566928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126187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Call to Action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192024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8"/>
                </a:solidFill>
              </a:rPr>
              <a:t>The AICS-Lab UNDIP represents a strategic and timely investment in Indonesia's digital future — combining UNDIP's academic strength with Positive Technologies' world-class cybersecurity tools.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3154680"/>
            <a:ext cx="56692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1480" y="3154680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32461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Approve and endorse this Partnership Proposal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3721608"/>
            <a:ext cx="56692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11480" y="3721608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3813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Authorize LoI signing → progress to MoU (Oct 2026)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4288536"/>
            <a:ext cx="56692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1480" y="4288536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3799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Confirm budget allocation in RKAT PTN-BH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1480" y="4855464"/>
            <a:ext cx="56692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11480" y="4855464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8640" y="49469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Support S2 study-programme permit processing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5422392"/>
            <a:ext cx="5669280" cy="475488"/>
          </a:xfrm>
          <a:prstGeom prst="rect">
            <a:avLst/>
          </a:prstGeom>
          <a:solidFill>
            <a:srgbClr val="0D2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11480" y="5422392"/>
            <a:ext cx="64008" cy="475488"/>
          </a:xfrm>
          <a:prstGeom prst="rect">
            <a:avLst/>
          </a:prstGeom>
          <a:solidFill>
            <a:srgbClr val="00E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55138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Enable legal &amp; compliance consultation (MoFA/BSSN)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11480" y="6080760"/>
            <a:ext cx="5669280" cy="566928"/>
          </a:xfrm>
          <a:prstGeom prst="rect">
            <a:avLst/>
          </a:prstGeom>
          <a:solidFill>
            <a:srgbClr val="1E3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2920" y="6126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</a:rPr>
              <a:t>Faculty of Science and Mathematics, Diponegoro University
Department of Informatics  |  7th Floor FSM Central Laboratory Building, Semarang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